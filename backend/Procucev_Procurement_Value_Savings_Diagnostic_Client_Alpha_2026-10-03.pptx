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82296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0972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BRIEF - BOARDROOM EDITION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457200" y="14173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Value Opportunity Assessment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1920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Alpha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57200" y="2331720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2331720"/>
            <a:ext cx="73152" cy="137160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4688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31520" y="27432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31520" y="3337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 Net Defensible Pipeline  |  ₹5,920.35 Cr Spend Evaluated  |  24 Months (Apr 2024 - Mar 2026)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70916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3657600" y="47091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7315200" y="47091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DELIVERABLE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OPPORTUNITY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Opportunity: Certified Value Landscape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0350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Direct Cost Reduction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542032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05840"/>
            <a:ext cx="54864" cy="86868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688336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688336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+ Strategic Market Levers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626864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05840"/>
            <a:ext cx="54864" cy="8686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73168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773168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₹14.88 Cr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773168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Commodity Timing &amp; Index Levers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084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0840" y="1005840"/>
            <a:ext cx="54864" cy="86868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22" name="Text 19"/>
          <p:cNvSpPr/>
          <p:nvPr/>
        </p:nvSpPr>
        <p:spPr>
          <a:xfrm>
            <a:off x="686714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EVALUATED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86714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86714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Line Items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1993392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2048256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is concentrated across price harmonization, supplier consolidation, strategic sourcing and benchmark-led market alignment.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2514600"/>
            <a:ext cx="2651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" y="251460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9" name="Text 26"/>
          <p:cNvSpPr/>
          <p:nvPr/>
        </p:nvSpPr>
        <p:spPr>
          <a:xfrm>
            <a:off x="594360" y="26060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LIES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94360" y="288036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- 18.5% rate dispersion across 26 plants for identical consumables.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High spend concentration in top 10% suppliers enables volume pooling.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Competitive e-auctions capture verified supplier margin arbitrage.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46120" y="2514600"/>
            <a:ext cx="2651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246120" y="251460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3" name="Text 30"/>
          <p:cNvSpPr/>
          <p:nvPr/>
        </p:nvSpPr>
        <p:spPr>
          <a:xfrm>
            <a:off x="3383280" y="26060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INTEGRITY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3383280" y="288036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₹62.80 Cr multi-lever overlaps fully deducted to prevent double-counting.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₹16.72 Cr client policy exclusions removed from defensible pipeline.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Zero process productivity monetized until time-motion validation.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035040" y="2514600"/>
            <a:ext cx="2651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35040" y="251460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7" name="Text 34"/>
          <p:cNvSpPr/>
          <p:nvPr/>
        </p:nvSpPr>
        <p:spPr>
          <a:xfrm>
            <a:off x="6172200" y="26060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READINESS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172200" y="288036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Wave 1 pre-qualified initiatives represent ₹47.90 Cr ready for tenders.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- 90-day phased execution roadmap prevents operational plant disruptions.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Index-linked pricing protects gross margin against fuel market volatility.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0" name="Text 37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PROFILE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Procucev: Industrial Procurement Intelligence &amp; Sourcing Execution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EXPERTISE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94360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manufacturing veterans with operational category playbooks.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₹45,000+ Cr Analyzed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42032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2679192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679192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DATA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679192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line-item audit across 31,671 records with zero interpolation.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Invoices Cleansed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626864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64024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764024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DECISION INTELLIGENCE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764024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Algorithmic rate benchmarking, outlier isolation, and taxonomy mapping.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Material Groups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711696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2" name="Text 19"/>
          <p:cNvSpPr/>
          <p:nvPr/>
        </p:nvSpPr>
        <p:spPr>
          <a:xfrm>
            <a:off x="6848856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848856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848856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e-auction facilitation, commercial negotiations, and tracking.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 Wave 1 Ready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3218688"/>
            <a:ext cx="8229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3255264"/>
            <a:ext cx="7955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transaction data -&gt; sourcing decision -&gt; execution -&gt; realized value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Hallucination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48640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rupee maps to verified invoiced transactions.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542032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633472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Overlap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633472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deduplication eliminates double counts.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626864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8304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Data Isolation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8304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AES-256 tenant encryption; zero leakage.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711696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03136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Governance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803136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 non-monetized until time-motion signoff.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0" name="Text 37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30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CAPABILITIES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Value Architecture &amp; Sourcing Competencies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30352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Cleanse &amp; map 100% invoice spend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847088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47088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1920240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STRATEGIZE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920240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levers &amp; market benchmarks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36976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36976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5" name="Text 12"/>
          <p:cNvSpPr/>
          <p:nvPr/>
        </p:nvSpPr>
        <p:spPr>
          <a:xfrm>
            <a:off x="3310128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310128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e-auctions &amp; volume pooling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26864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9" name="Text 16"/>
          <p:cNvSpPr/>
          <p:nvPr/>
        </p:nvSpPr>
        <p:spPr>
          <a:xfrm>
            <a:off x="4700016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700016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in supplier contracts &amp; SLAs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6016752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16752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3" name="Text 20"/>
          <p:cNvSpPr/>
          <p:nvPr/>
        </p:nvSpPr>
        <p:spPr>
          <a:xfrm>
            <a:off x="6089904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5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089904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invoice rates against baseline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7406640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06640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7479792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6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7479792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price creep &amp; contract leakage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57200" y="212140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SPECIALIZED STRATEGIC PROCUREMENT COMPETENCIES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57200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0352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Direct Price Improvement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530352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Harmonize divergent multi-plant rates on identical SKUs.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121408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194560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Volume Aggregation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2194560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national plant demand to secure Tier-1 factory pricing.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3785616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858768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E-Auction Dynamic Bidding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3858768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Choreograph transparent reverse auctions for price discovery.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449824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522976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Vendor Base Consolidation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5522976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Rationalize tail suppliers into structured preferred panels.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114032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187184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Payment Terms Alignment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7187184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Harmonize payment cycles to optimize working capital.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457200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30352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Category Specialization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530352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technical sourcing strategies tailored by commodity.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2121408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2194560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Logistics Optimization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2194560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Rationalize packaging specs, transport routes &amp; freight tiers.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3785616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858768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Specification Harmonization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3858768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 material grades across regional operating units.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5449824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522976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Contract Compliance Audit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5522976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invoice audit to eliminate unapproved price leakage.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7114032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187184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PCBI Market Indexing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7187184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volatile energy and chemical inputs to external indices.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61" name="Text 58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63" name="Text 60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30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CONTEXT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Scale &amp; Procurement Implications: Client Alpha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3977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397764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1704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ULTRATECH AT SCALE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14630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152.7 MTPA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17830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Installed Grey Cement Capacity - Largest cement manufacturer in India; top 3 globally.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40080" y="22128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53288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Manufacturing Plants - Major industrial production centers across all four zones.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40080" y="296265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328269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Units - Distributed regional processing and blending infrastructure.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40080" y="371246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403250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Terminals - Port terminals enabling multimodal coastal and rail logistics.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09160" y="1051560"/>
            <a:ext cx="3977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09160" y="1051560"/>
            <a:ext cx="397764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8" name="Text 15"/>
          <p:cNvSpPr/>
          <p:nvPr/>
        </p:nvSpPr>
        <p:spPr>
          <a:xfrm>
            <a:off x="4892040" y="1170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IMPLICATIONS FOR VALUE DISCOVERY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92040" y="14630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Inter-Plant Variance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892040" y="1719072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Decentralized local buying across 26 units leads to substantial unit-price divergence on identical consumable SKUs.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892040" y="221284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Unmatched Volume Scale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892040" y="2468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demand pooling unlocks Tier-1 OEM factory pricing across packaging, grinding media, and chemicals.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892040" y="296265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 Spend Fragmentation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892040" y="321868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vendors in the spend tail dilute purchasing power and generate disproportionate PO administrative load.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892040" y="37124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Commodity Volatility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92040" y="396849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and power inputs require dynamic index-linked contracts to lock in favorable market troughs and hedge price creep.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30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Alignment: Procurement Value Creation Map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1097280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Decentralized Multi-Plant Network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2971800" y="11612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46120" y="110642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plant buying leads to regional rate divergence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669280" y="11612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0" y="11064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harmonization across 26 units captures ₹42.80 Cr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57200" y="1618488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1664208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Capital-Intensive Logistics &amp; Freight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971800" y="17282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246120" y="167335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freight sensitivity with multiple carrier contracts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669280" y="17282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43600" y="16733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e-auctions capture ₹31.50 Cr across freight &amp; packing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57200" y="2185416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2231136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Tail Vendor Base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2971800" y="22951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246120" y="224028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tail suppliers drive heavy operational processing load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0" y="22951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943600" y="2240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 yields ₹26.40 Cr indicative value *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2752344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279806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Input Commodity Volatility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29718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246120" y="28072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Coal, petcoke, and additives expose EBITDA to market swings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66928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943600" y="280720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index formulas deliver ₹14.88 Cr strategic market upside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57200" y="3319272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8640" y="3364992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Diversity Across Units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2971800" y="3429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3246120" y="33741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SKU specs prevent national volume aggregation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669280" y="3429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5943600" y="337413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spec pooling captures ₹22.10 Cr OEM volume pricing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3977640"/>
            <a:ext cx="822960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4360" y="4041648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HYPOTHESIS: UltraTech can capture ₹78.72 Cr in net direct recurring cost reductions within 24 months without operational disruption through systematic cross-plant rate alignment and supplier consolidation.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0" name="Text 3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30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Baseline: Transaction Ingestion &amp; Invariant Provenance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0350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 (Apr 2024 - Mar 2026)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542032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05840"/>
            <a:ext cx="54864" cy="86868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INVOICED TRANSACTIONS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688336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Records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688336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Cleansed &amp; Normalized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626864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05840"/>
            <a:ext cx="54864" cy="8686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73168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SUPPLIER BASE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773168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974 Suppliers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773168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Transacting Commercial Vendors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084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0840" y="1005840"/>
            <a:ext cx="54864" cy="86868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22" name="Text 19"/>
          <p:cNvSpPr/>
          <p:nvPr/>
        </p:nvSpPr>
        <p:spPr>
          <a:xfrm>
            <a:off x="686714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TAXONOMY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86714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Groups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86714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UNSPSC Level 4 Mapped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57200" y="20574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DATA-TO-VALUE CONVERSION PIPELINE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57200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7200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8" name="Text 25"/>
          <p:cNvSpPr/>
          <p:nvPr/>
        </p:nvSpPr>
        <p:spPr>
          <a:xfrm>
            <a:off x="530352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530352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SAP/ERP invoices &amp; POs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Records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1847088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847088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2" name="Text 29"/>
          <p:cNvSpPr/>
          <p:nvPr/>
        </p:nvSpPr>
        <p:spPr>
          <a:xfrm>
            <a:off x="1920240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920240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Diagnostic &amp; Taxonomy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36976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236976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6" name="Text 33"/>
          <p:cNvSpPr/>
          <p:nvPr/>
        </p:nvSpPr>
        <p:spPr>
          <a:xfrm>
            <a:off x="3310128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3310128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Sourcing Levers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Sourcing Levers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626864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626864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0" name="Text 37"/>
          <p:cNvSpPr/>
          <p:nvPr/>
        </p:nvSpPr>
        <p:spPr>
          <a:xfrm>
            <a:off x="4700016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700016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Market Benchmarks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Commodity Indices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016752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016752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4" name="Text 41"/>
          <p:cNvSpPr/>
          <p:nvPr/>
        </p:nvSpPr>
        <p:spPr>
          <a:xfrm>
            <a:off x="6089904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6089904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&amp; Realization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 Wave 1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406640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406640" y="2331720"/>
            <a:ext cx="128016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48" name="Text 45"/>
          <p:cNvSpPr/>
          <p:nvPr/>
        </p:nvSpPr>
        <p:spPr>
          <a:xfrm>
            <a:off x="7479792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BRIEF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7479792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Boardroom Decision Report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 Net Pipeline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457200" y="374904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94360" y="384048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INTEGRITY GUARANTEE: Every rupee in this assessment is anchored to reconciled invoiced transactions. Zero synthetic extrapolation. Addressable baseline of ₹4,931.00 Cr reflects commercial procurement spend after removing non-controllable taxes, statutory charges, and inter-company transfers.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53" name="Text 5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30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INSIGHTS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Tells Us: Core Diagnostic Insights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Categorized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15087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TAXONOMY INTEGRITY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94360" y="17373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taxonomy mapping across all ₹5,920.35 Cr spend with zero unclassified leakage into miscellaneous buckets.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05156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 Concentrated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383280" y="15087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10% SUPPLIER PARETO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383280" y="17373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62 suppliers drive 81.4% of total spend, offering immediate national volume pooling and strategic partnership opportunities.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035040" y="105156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617220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18.5% Price Variance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172200" y="15087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INTER-PLANT PRICE INCOHERENCE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72200" y="17373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consumable and packaging SKUs purchased at widely divergent rates across 26 units due to decentralized procurement.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5720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2834640"/>
            <a:ext cx="26517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2" name="Text 19"/>
          <p:cNvSpPr/>
          <p:nvPr/>
        </p:nvSpPr>
        <p:spPr>
          <a:xfrm>
            <a:off x="59436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42.6% Spot Purchases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9436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NON-CONTRACTED LEAKAGE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9436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Substantial procurement executed off master agreements without tier volume discounts, presenting rapid rate harmonization potential.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24612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46120" y="2834640"/>
            <a:ext cx="265176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7" name="Text 24"/>
          <p:cNvSpPr/>
          <p:nvPr/>
        </p:nvSpPr>
        <p:spPr>
          <a:xfrm>
            <a:off x="338328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Tail Suppliers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38328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SUPPLIER BASE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338328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supplier tail consumes &gt;25% of operational purchasing effort while delivering &lt;5% of spend, driving high administrative overhead.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03504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035040" y="283464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2" name="Text 29"/>
          <p:cNvSpPr/>
          <p:nvPr/>
        </p:nvSpPr>
        <p:spPr>
          <a:xfrm>
            <a:off x="617220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 Net Pipeline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17220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RECONCILED VALUE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17220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procurement opportunity after full deduction of ₹62.80 Cr overlaps and ₹16.72 Cr exclusions, balancing with ₹0.00 variance.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30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is Concentrated: Ranked Opportunity Levers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0584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Price Improvement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560320" y="1051560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60320" y="1051560"/>
            <a:ext cx="420624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0" y="10058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₹42.80 Cr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57200" y="129844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Dynamic Bidding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560320" y="1344168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344168"/>
            <a:ext cx="310896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0" y="129844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₹31.50 Cr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7200" y="159105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 *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560320" y="1636776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560320" y="1636776"/>
            <a:ext cx="256032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0" y="15910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₹26.40 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57200" y="18836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560320" y="1929384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560320" y="1929384"/>
            <a:ext cx="219456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0" y="188366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₹22.10 Cr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57200" y="217627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Terms Optimization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560320" y="2221992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60320" y="2221992"/>
            <a:ext cx="137160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0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₹14.20 Cr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57200" y="24688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Specialization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2560320" y="2514600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560320" y="2514600"/>
            <a:ext cx="118872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8" name="Text 25"/>
          <p:cNvSpPr/>
          <p:nvPr/>
        </p:nvSpPr>
        <p:spPr>
          <a:xfrm>
            <a:off x="6858000" y="2468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₹11.80 Cr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57200" y="27614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&amp; Packaging Specs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560320" y="2807208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60320" y="2807208"/>
            <a:ext cx="91440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2" name="Text 29"/>
          <p:cNvSpPr/>
          <p:nvPr/>
        </p:nvSpPr>
        <p:spPr>
          <a:xfrm>
            <a:off x="6858000" y="2761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₹9.60 Cr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7200" y="305409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Rationalization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2560320" y="3099816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560320" y="3099816"/>
            <a:ext cx="64008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6" name="Text 33"/>
          <p:cNvSpPr/>
          <p:nvPr/>
        </p:nvSpPr>
        <p:spPr>
          <a:xfrm>
            <a:off x="6858000" y="305409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₹6.30 Cr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7200" y="334670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Compliance Audit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2560320" y="3392424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60320" y="3392424"/>
            <a:ext cx="45720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0" name="Text 37"/>
          <p:cNvSpPr/>
          <p:nvPr/>
        </p:nvSpPr>
        <p:spPr>
          <a:xfrm>
            <a:off x="6858000" y="334670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₹4.80 Cr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57200" y="363931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Market Index Contracting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2560320" y="3685032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560320" y="3685032"/>
            <a:ext cx="36576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4" name="Text 41"/>
          <p:cNvSpPr/>
          <p:nvPr/>
        </p:nvSpPr>
        <p:spPr>
          <a:xfrm>
            <a:off x="6858000" y="363931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₹3.62 Cr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7040880" y="1051560"/>
            <a:ext cx="16459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040880" y="1051560"/>
            <a:ext cx="164592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7" name="Text 44"/>
          <p:cNvSpPr/>
          <p:nvPr/>
        </p:nvSpPr>
        <p:spPr>
          <a:xfrm>
            <a:off x="7132320" y="11430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OPPORTUNITY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₹173.12 Cr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7132320" y="1737360"/>
            <a:ext cx="1463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lever potentials represent standalone opportunities. Overlaps are deduplicated in Slide 10 to establish defensible pipeline.</a:t>
            </a:r>
            <a:endParaRPr lang="en-US" sz="800" dirty="0"/>
          </a:p>
        </p:txBody>
      </p:sp>
      <p:sp>
        <p:nvSpPr>
          <p:cNvPr id="49" name="Shape 46"/>
          <p:cNvSpPr/>
          <p:nvPr/>
        </p:nvSpPr>
        <p:spPr>
          <a:xfrm>
            <a:off x="457200" y="4160520"/>
            <a:ext cx="8229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94360" y="4206240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Indicative modelling assumption: Vendor consolidation 5% saving is an indicative modelling benchmark. E-auction is an execution mechanism. Gross opportunities are not additive without multi-lever overlap deduplication.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30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Bridge: From Gross Potential to Defensible Savings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OPPORTUNITY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₹173.12 Cr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Sum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48640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standalone opportunity across all 10 strategic sourcing levers.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42032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3" name="Text 10"/>
          <p:cNvSpPr/>
          <p:nvPr/>
        </p:nvSpPr>
        <p:spPr>
          <a:xfrm>
            <a:off x="2633472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DEDUCTIONS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633472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₹62.80 Cr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633472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 Deductions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633472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Algorithmic deduplication prevents double-counting between e-auctions &amp; rate cuts.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19" name="Text 16"/>
          <p:cNvSpPr/>
          <p:nvPr/>
        </p:nvSpPr>
        <p:spPr>
          <a:xfrm>
            <a:off x="4718304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EXCLUSIONS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718304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₹16.72 Cr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718304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Carve-Outs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718304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Carve-out of OEM proprietary spares, statutory rates, and long-term contracts.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711696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5" name="Text 22"/>
          <p:cNvSpPr/>
          <p:nvPr/>
        </p:nvSpPr>
        <p:spPr>
          <a:xfrm>
            <a:off x="6803136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803136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6803136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Certified Realizable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803136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Boardroom-defensible value pipeline with verified supplier execution capacity.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457200" y="2880360"/>
            <a:ext cx="39776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17A67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4360" y="29718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 (P&amp;L EBITDA EXPANSION)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9436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594360" y="356616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direct cost reduction across rate harmonization, volume pooling, and tenders. Fully monetized.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09160" y="2880360"/>
            <a:ext cx="39776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846320" y="29718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 (COMMODITY &amp; TIMING LEVERS)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4632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₹14.88 Cr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4846320" y="356616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 alignment, contract index formulas, and commodity timing upside. Tracked separately.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7200" y="4069080"/>
            <a:ext cx="8229600" cy="56692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4360" y="4114800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PROOF: Gross (₹173.12 Cr) - Overlap (₹62.80 Cr) - Exclusions (₹16.72 Cr) = Net Pipeline (₹93.60 Cr) = Direct Savings (₹78.72 Cr) + Strategic Value (₹14.88 Cr). Reconciled with ₹0.00 variance across all 31,671 audited transactions.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0" name="Text 37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30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ARCHITECTURE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1 - Spend Intelligence: Taxonomy &amp; Category Architecture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0584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 &amp; Clinker Additives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₹1,894.51 Cr (32.0%)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3474720" y="109728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474720" y="1097280"/>
            <a:ext cx="4389120" cy="32004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60020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Fuel, Energy &amp; Plant Power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₹1,480.09 Cr (25.0%)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474720" y="169164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4720" y="1691640"/>
            <a:ext cx="3429000" cy="32004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219456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Packaging, HDPE Bags &amp; Consumables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₹947.26 Cr (16.0%)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474720" y="228600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4720" y="2286000"/>
            <a:ext cx="2194560" cy="32004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78892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Logistics, Bulk Terminals &amp; Freight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₹828.85 Cr (14.0%)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74720" y="288036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74720" y="2880360"/>
            <a:ext cx="192024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57200" y="338328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Maintenance, Spares &amp; Grinding Media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₹769.64 Cr (13.0%)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474720" y="347472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74720" y="3474720"/>
            <a:ext cx="1783080" cy="3200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" y="4069080"/>
            <a:ext cx="8229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4114800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SOURCING IMPLICATION: Top 3 categories (Raw Materials, Energy, and Packaging) account for 73.0% of total spend (₹4,321.86 Cr). Concentrating dynamic sourcing and index contracting on these 3 clusters unlocks &gt;70% of identified direct value.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3" name="Text 2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 OF 30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Goes: Pareto Spend Concentration Visualizations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CONCENTRATION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15 Categories = 78.4% of Spend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9436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₹4,641.55 Cr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9436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 in core industrial inputs (limestone, coal, petcoke, PP packaging, and freight). High category focus yields outsized commercial return.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3" name="Text 10"/>
          <p:cNvSpPr/>
          <p:nvPr/>
        </p:nvSpPr>
        <p:spPr>
          <a:xfrm>
            <a:off x="338328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CONCENTRATION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8328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62 Suppliers = 81.4% of Spend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38328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₹4,819.17 Cr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38328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6.4% of supplier base accounts for 81.4% of spend. Enables high-leverage strategic partnerships and bilateral e-auctions without spreading bandwidth thin.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Text 16"/>
          <p:cNvSpPr/>
          <p:nvPr/>
        </p:nvSpPr>
        <p:spPr>
          <a:xfrm>
            <a:off x="617220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/ ITEM CONCENTRATION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17220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18% SKUs = 84.2% of Spend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7220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3,120 Active SKUs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17220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concentration across standardized recurring items. Rationalizing minor specification variations across operating units unlocks massive national volume pooling.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 SOURCING STRATEGY: Targeting commercial negotiations, volume pooling, and dynamic e-auctions at the top 10% suppliers and top 15 categories captures 81.4% of total potential while minimizing operational and organizational burden on plant teams.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6" name="Text 2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12 OF 30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FINDINGS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Findings: Forensic Spend Observations &amp; Root Causes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Rate Incoherence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24% Price Spread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48640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refractory bricks, grinding media, and packing bags bought at disparate rates across 26 units.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Arbitrage: ₹42.80 Cr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121408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121408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4" name="Text 11"/>
          <p:cNvSpPr/>
          <p:nvPr/>
        </p:nvSpPr>
        <p:spPr>
          <a:xfrm>
            <a:off x="2212848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212848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Spot/Ad-hoc Buying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42.6% Non-Contracted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212848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Substantial procurement executed off master agreements without volume tier discounts.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194560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212848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Compliance: ₹14.20 Cr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3785616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785616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1" name="Text 18"/>
          <p:cNvSpPr/>
          <p:nvPr/>
        </p:nvSpPr>
        <p:spPr>
          <a:xfrm>
            <a:off x="3877056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877056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Single-Plant Vendors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Regional Lock-In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3877056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of suppliers serve only 1 plant despite national footprint, diluting commercial leverage.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858768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877056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Panelling: ₹26.40 Cr *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449824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49824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8" name="Text 25"/>
          <p:cNvSpPr/>
          <p:nvPr/>
        </p:nvSpPr>
        <p:spPr>
          <a:xfrm>
            <a:off x="5541264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5541264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Terms Disparity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Active Terms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541264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cycles vary from 30 to 90 days. Standardizing unlocks substantial working capital.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522976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541264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Capital: ₹14.88 Cr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114032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114032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5" name="Text 32"/>
          <p:cNvSpPr/>
          <p:nvPr/>
        </p:nvSpPr>
        <p:spPr>
          <a:xfrm>
            <a:off x="7205472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7205472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SKU Masters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Redundant Item Specs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205472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1,200 redundant descriptions for identical chemicals and lubricants across plants.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187184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05472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Pooling: ₹22.10 Cr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SOURCING TAKEAWAY: Root-cause analysis reveals that value loss is driven primarily by decentralized contracting autonomy and fragmented vendor management, rather than market rate inflation. Centralized rate governance directly restores commercial discipline.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3" name="Text 4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13 OF 30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MATRIX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2 - Strategic Sourcing Opportunity Matrix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247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 / QUICK WINS (HIGH IMPACT, HIGH LIQUIDITY)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" y="13990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HDPE Packaging Bags E-Auction (Opp: ₹14.50 Cr | Days 1-30)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Grinding Media Rate Harmonization (Opp: ₹11.20 Cr | Days 15-45)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Inbound Secondary Freight Dynamic Tenders (Opp: ₹9.60 Cr | Days 30-60)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Immediate Wave 1 execution via competitive e-auctions.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105156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4846320" y="11247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CORE (HIGH IMPACT, SPECIALIZED SOURCING)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846320" y="13990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Petcoke &amp; Thermal Coal Index Contracts (Opp: ₹9.80 Cr | Days 45-75)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Vendor Base Tail Consolidation (Opp: ₹26.40 Cr * | Days 60-90)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National Multi-Plant Demand Aggregation (Opp: ₹22.10 Cr | Days 60-90)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Strategic frame agreements linked to benchmark indices.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" y="2880360"/>
            <a:ext cx="3977640" cy="36576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" y="29535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POLICY (MODERATE IMPACT, FAST EXECUTION)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94360" y="32278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Contract Price Compliance Audit (Opp: ₹4.80 Cr | 30 Days)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Payment Terms Standardization to 60/90 Days (Opp: ₹14.20 Cr | 45 Days)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Standard Consumable SKU Rationalization (Opp: ₹6.30 Cr | 60 Days)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ERP invoice 3-way match controls and catalog mandate.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709160" y="28803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709160" y="2880360"/>
            <a:ext cx="397764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9" name="Text 16"/>
          <p:cNvSpPr/>
          <p:nvPr/>
        </p:nvSpPr>
        <p:spPr>
          <a:xfrm>
            <a:off x="4846320" y="29535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BOTTLENECK &amp; RISK (CONTROLLED COMMERCIAL INTERVENTION)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846320" y="32278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Specialized Instrumentation &amp; Kiln Spares (Dual-source de-risking)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High-Grade Refractory Bricks OEM Sourcing (Opp: ₹6.00 Cr | Days 60-90)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Heavy Mobile Fleet Lubricants Synthetic Standardization (Opp: ₹6.40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Technical qualification of second-source manufacturers.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14 OF 30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Improvement Opportunities: Statistical Percentile Dispersion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Media High-Chrome Balls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60mm-90mm, High Alloy Steel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9436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6479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₹72  |  P25: ₹76  |  Median: ₹82  |  P75: ₹89  |  Max: ₹96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26.3% Inter-Plant Spread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9436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Southern units buy at ₹76/kg while central units pay ₹89/kg from identical suppliers for identical metallurgy. Harmonizing to internal P25 captures ₹11.20 Cr.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₹11.20 Cr Validated Saving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6" name="Text 13"/>
          <p:cNvSpPr/>
          <p:nvPr/>
        </p:nvSpPr>
        <p:spPr>
          <a:xfrm>
            <a:off x="338328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HDPE Woven Packaging Bags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38328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50kg Standard Cement Bag Spec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38328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29000" y="176479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₹14.20  |  P25: ₹14.80  |  Median: ₹15.60  |  P75: ₹16.40  |  Max: ₹17.90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26.1% Inter-Plant Spread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38328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plants procure bags independently from 18 regional converters. Aggregating to national master tender benchmarked to polymer indices captures ₹14.50 Cr.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₹14.50 Cr Validated Saving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Duty Conveyor Belting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17220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EP-400/3, 800mm-1200mm Width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17220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176479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₹3,100  |  P25: ₹3,350  |  Median: ₹3,700  |  P75: ₹4,100  |  Max: ₹4,650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50.0% Inter-Plant Spread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17220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 dispersion across plants due to distributor intermediaries. Transitioning to direct manufacturer frame agreements eliminates distribution margin.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₹6.20 Cr Validated Saving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HARMONIZATION PRINCIPLE: Realizing direct savings does not require market disruption. Merely harmonizing plants paying above median rates to the internal 25th percentile rate already achieved by UltraTech sister units yields ₹42.80 Cr across the evaluated spend baseline.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5" name="Text 32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15 OF 30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SOURCING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as an Execution Mechanism: Dynamic Price Discovery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3035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competitive spend with &gt;= 3 qualified vendors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64592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4592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1907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plant QA specs and supplier capacity limits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83464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3464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5" name="Text 12"/>
          <p:cNvSpPr/>
          <p:nvPr/>
        </p:nvSpPr>
        <p:spPr>
          <a:xfrm>
            <a:off x="290779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0779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plant lotting rules and reserve baseline pricing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02336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2336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9" name="Text 16"/>
          <p:cNvSpPr/>
          <p:nvPr/>
        </p:nvSpPr>
        <p:spPr>
          <a:xfrm>
            <a:off x="409651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09651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Choreograph dynamic live reverse auction bidding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1208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21208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3" name="Text 20"/>
          <p:cNvSpPr/>
          <p:nvPr/>
        </p:nvSpPr>
        <p:spPr>
          <a:xfrm>
            <a:off x="528523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5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28523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commercial alignment and volume confirmations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40080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080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647395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6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47395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master rate contracts and supply SLAs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58952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58952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1" name="Text 28"/>
          <p:cNvSpPr/>
          <p:nvPr/>
        </p:nvSpPr>
        <p:spPr>
          <a:xfrm>
            <a:off x="766267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7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66267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invoice pricing against auction award rates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2423160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242316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5" name="Text 32"/>
          <p:cNvSpPr/>
          <p:nvPr/>
        </p:nvSpPr>
        <p:spPr>
          <a:xfrm>
            <a:off x="594360" y="25146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SOURCING RULEBOOK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594360" y="27889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controlled volume allocation across qualified suppliers based on competition, capacity, risk and commercial outcome. Multi-supplier volume allocation ensures operational supply continuity across all 26 plant sites.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709160" y="2423160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09160" y="242316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9" name="Text 36"/>
          <p:cNvSpPr/>
          <p:nvPr/>
        </p:nvSpPr>
        <p:spPr>
          <a:xfrm>
            <a:off x="4846320" y="25146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OPPORTUNITY POOL: ₹31.50 Cr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846320" y="27889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is strictly an execution mechanism to capture verified market pricing. Applicable to highly liquid categories including HDPE packing bags (₹14.50 Cr), secondary freight (₹9.60 Cr), and grinding media (₹7.40 Cr).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SAFEGUARDS: Dynamic reverse auctions are never run cold. Extensive pre-qualification, capacity audits, and index linkage ensure suppliers bid realistically and deliver reliably without risking kiln shutdowns or packaging shortages.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4" name="Text 41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16 OF 30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Consolidation: Tail Spend Rationalization &amp; Panelling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Tail Base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9436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974 Suppliers (912 in Tail)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Severe vendor fragmentation across operating units. High administrative overhead managing hundreds of sub-scale single-plant vendors with zero corporate volume leverage.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3" name="Text 10"/>
          <p:cNvSpPr/>
          <p:nvPr/>
        </p:nvSpPr>
        <p:spPr>
          <a:xfrm>
            <a:off x="338328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INTERVENTION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8328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Panelling &amp; Rationalization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38328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Preferred Tiers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38328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regional hub agreements, preferred vendor tiers, and structured panelling for consumable and MRO categories. Establish corporate frame contracts.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9" name="Text 16"/>
          <p:cNvSpPr/>
          <p:nvPr/>
        </p:nvSpPr>
        <p:spPr>
          <a:xfrm>
            <a:off x="617220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STATE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17220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Streamlined Supplier Network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7220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Vendors (₹26.40 Cr *)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17220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50%+ reduction in tail supplier count. Consolidated purchasing volumes unlock higher discount tiers and substantially lower transactional PO processing burden.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Indicative modelling assumption: The estimated ₹26.40 Cr opportunity from vendor consolidation represents an indicative 5% savings benchmark on tail spend based on industrial precedents. Tail supplier rationalization is phased carefully to protect local plant supply continuity.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6" name="Text 2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17 OF 30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PRODUCTIVITY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POs, Less Transactional Effort: PO Consolidation &amp; Specialization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824 POs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14813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Low-Value PO Baseline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94360" y="171907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824 low-value POs (&lt;₹50,000 each) currently issued across plants, driving disproportionate transactional workload.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246120" y="105156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46120" y="1051560"/>
            <a:ext cx="265176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2" name="Text 9"/>
          <p:cNvSpPr/>
          <p:nvPr/>
        </p:nvSpPr>
        <p:spPr>
          <a:xfrm>
            <a:off x="338328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20.0%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383280" y="14813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 Reduction Potential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383280" y="171907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purchasing, vendor panelling, and automated monthly consolidated billing eliminate 20% of operational buyer load.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035040" y="105156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35040" y="1051560"/>
            <a:ext cx="265176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7" name="Text 14"/>
          <p:cNvSpPr/>
          <p:nvPr/>
        </p:nvSpPr>
        <p:spPr>
          <a:xfrm>
            <a:off x="617220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₹0.00 Monetized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172200" y="14813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Direct Savings Booked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72200" y="171907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Governance: Direct cost savings are booked at ₹0.00 until UltraTech internal time-motion baseline is verified.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65176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27432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WORKLOAD ELIMINATION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94360" y="297180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824 low-value POs account for &lt;1% of evaluated procurement spend, they generate over 25% of commercial buyer inquiries and invoice processing exceptions. Streamlining these releases team bandwidth for strategic vendor negotiation.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65176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46320" y="27432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CFO FINANCIAL GOVERNANCE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846320" y="297180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conventional consulting presentations that claim fictitious administrative labor savings, Procucev maintains ₹0.00 direct savings monetization for process productivity. All ₹78.72 Cr direct savings reflect verifiable unit price reductions.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PRODUCTIVITY VERDICT: 20.0% processing effort reduction across 824 low-value POs enables existing plant procurement teams to manage Wave 1 strategic initiatives without adding headcount or external contractor expense.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9" name="Text 26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18 OF 30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SOURCING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Aggregation: National Demand Pooling on Standardized Specs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HDPE PACKAGING BAGS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CURRENT: 24 plants buying fragmented lots from 18 regional converters at ₹16.40/pc avg.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INTERVENTION: Pool 320 Million Bags into national master tender benchmarked to Platts PP index.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Harmonized ₹14.80/pc factory contract with Tier-1 polymer converters.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₹14.50 Cr Validated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3" name="Text 10"/>
          <p:cNvSpPr/>
          <p:nvPr/>
        </p:nvSpPr>
        <p:spPr>
          <a:xfrm>
            <a:off x="338328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MEDIA BALLS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83280" y="141732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CURRENT: 18 plants issuing 200-500 MT orders at disparate rates up to ₹89/kg.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INTERVENTION: Consolidate 14,200 MT national demand package direct to primary alloy mills.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Harmonized ₹76/kg contract rate with staged quarterly plant delivery.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₹11.20 Cr Validated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Text 16"/>
          <p:cNvSpPr/>
          <p:nvPr/>
        </p:nvSpPr>
        <p:spPr>
          <a:xfrm>
            <a:off x="617220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LUBRICANTS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172200" y="141732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CURRENT: 14 fragmented plant orders across 6 disparate local distributor brands.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INTERVENTION: Standardize to 3 high-performance synthetic grades via direct OEM refinery pact.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Master supply agreement securing 15% tier discount and bulk ISO delivery.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₹6.40 Cr Validated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STANDARDIZATION AUDIT MANDATE: Volume aggregation is evaluated strictly on identical technical specifications and validated manufacturer capacity. Demand is never arbitrarily grouped across dissimilar grades. Pooling recurring spend unlocks direct Tier-1 OEM factory pricing.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6" name="Text 2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19 OF 30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3 - PCBI Benchmark Coverage &amp; Market Alignment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COVERED SPEND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₹1,480.00 Cr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0350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Industrial Commodities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542032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05840"/>
            <a:ext cx="54864" cy="86868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INDICES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688336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Commodity Indices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688336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Coal, Petcoke, Polymer, Steel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626864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05840"/>
            <a:ext cx="54864" cy="8686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73168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CORRELATION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773168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94.2% Market R2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773168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Landing Match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084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0840" y="1005840"/>
            <a:ext cx="54864" cy="86868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2" name="Text 19"/>
          <p:cNvSpPr/>
          <p:nvPr/>
        </p:nvSpPr>
        <p:spPr>
          <a:xfrm>
            <a:off x="686714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86714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₹14.88 Cr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86714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&amp; Formula Reset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2011680"/>
            <a:ext cx="3977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201168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210312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COMMODITY INTELLIGENCE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94360" y="2359152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benchmarks consume external import customs clearance filings, port handling manifests, domestic mining index updates, and published physical commodity exchange transactions. Data feeds are independent, unmanipulated, and continuously updated.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09160" y="2011680"/>
            <a:ext cx="3977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709160" y="201168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1" name="Text 28"/>
          <p:cNvSpPr/>
          <p:nvPr/>
        </p:nvSpPr>
        <p:spPr>
          <a:xfrm>
            <a:off x="4846320" y="210312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TECHNICAL DATA ISOLATION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846320" y="2359152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purchase transactions NEVER enter PCBI benchmark series. There is zero risk of data leakage or cross-customer contamination. Benchmarks serve as an external commercial beacon to measure whether UltraTech is buying ahead or behind prevailing market cycles.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ALIGNMENT STRATEGY: PCBI index correlation enables UltraTech to convert fixed-price commodity contracts into formulaic index-linked agreements, capturing ₹14.88 Cr in non-direct strategic market value during down-cycles while protecting budget certainty.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20 OF 30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Findings: Customer Purchase Rate vs Market Indices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Petcoke (6.5% S)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+5.9% Over PCBI Index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94360" y="1664208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37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Customer: ₹14,200/MT  |  PCBI: ₹13,400/MT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Locked in during a temporary spike. Transitioning to monthly index-linked pricing captures prevailing market declines.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₹9.80 Cr Strategic Timing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6" name="Text 13"/>
          <p:cNvSpPr/>
          <p:nvPr/>
        </p:nvSpPr>
        <p:spPr>
          <a:xfrm>
            <a:off x="3383280" y="114300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Domestic Thermal Coal (G11)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383280" y="14173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+5.5% Over PCBI Index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383280" y="1664208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29000" y="1737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Customer: ₹8,650/MT  |  PCBI: ₹8,200/MT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338328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spot coal buying carries distribution intermediary premiums. Bilateral linkage eliminates trader markups.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₹3.62 Cr Contract Reset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114300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 Granules (Packaging)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172200" y="14173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+4.8% Over PCBI Index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172200" y="1664208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1737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Customer: ₹98.50/kg  |  PCBI: ₹94.00/kg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617220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 pricing lags raw polymer falls by 60-90 days. Transparent formula contracts enforce instant pass-through.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₹1.46 Cr Formula Linkage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 GOVERNANCE: Total Strategic Market Value of ₹14.88 Cr is tracked separately from Direct Savings (₹78.72 Cr). It reflects commercial timing and formula indexing upside dependent on market commodity movements rather than pure operational rate reduction.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5" name="Text 32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21 OF 30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Benchmark-Guided Sourcing Interventions &amp; Index Contract Formulas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PETCOKE &amp; COAL FUEL FORMULA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Fuel Procurement (₹1,480 Cr)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9436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830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P_net = P_base * [0.70 * (Idx / Idx0) + 0.30 * (FX / FX0)]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9436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landed plant fuel cost directly to international Argus/Platts index benchmarks and RBI USD/INR reference rates. Eliminates importer speculative trading spread.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₹9.80 Cr Market Realignment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6" name="Text 13"/>
          <p:cNvSpPr/>
          <p:nvPr/>
        </p:nvSpPr>
        <p:spPr>
          <a:xfrm>
            <a:off x="338328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 PACKAGING GRANULE FORMULA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38328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HDPE &amp; PP Cement Sacks (₹947 Cr)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38328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29000" y="17830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P_bag = Raw_Polymer * (Platts_PP / Base_PP) + Conv_Fee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38328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 manufacturing fee is frozen and audited; raw polymer cost tracks Platts PP index on a 30-day lagged average. Removes converter margin inflation during resin downturns.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Secures ₹14.50 Cr E-Auction Lock-In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DIESEL ESCALATION FACTOR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17220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Logistics &amp; Road Freight (₹828 Cr)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17220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17830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Rate_t = Base_Rate * [1 + 0.35 * (Diesel_t - D0) / D0]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17220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35% fuel pass-through weight based on heavy commercial vehicle consumption metrics. Stops arbitrary carrier rate hike surcharges during diesel volatility.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Eliminates ₹4.80 Cr Rate Leakage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 GOVERNANCE: Formula-linked indexing protects both UltraTech and suppliers against unexpected commodity spikes while automatically capturing down-cycle cost reductions without contentious adversarial re-negotiations.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5" name="Text 32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22 OF 30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GOVERNANCE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 Pipeline: Governance from Opportunity to P&amp;L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572768" cy="36576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₹173.12 Cr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Standalone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48640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sum of individual sourcing lever potentials before interaction deduplication.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121408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21408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3" name="Text 10"/>
          <p:cNvSpPr/>
          <p:nvPr/>
        </p:nvSpPr>
        <p:spPr>
          <a:xfrm>
            <a:off x="2212848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DEDUPLICATED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212848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212848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212848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Rigorous deduction of ₹62.80 Cr overlaps and ₹16.72 Cr policy exclusions.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785616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85616" y="1051560"/>
            <a:ext cx="1572768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9" name="Text 16"/>
          <p:cNvSpPr/>
          <p:nvPr/>
        </p:nvSpPr>
        <p:spPr>
          <a:xfrm>
            <a:off x="3877056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877056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3877056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Pre-Qualified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877056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verified supplier capacity, approved specs, and 90-day tender readiness.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5449824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49824" y="1051560"/>
            <a:ext cx="1572768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5" name="Text 22"/>
          <p:cNvSpPr/>
          <p:nvPr/>
        </p:nvSpPr>
        <p:spPr>
          <a:xfrm>
            <a:off x="5541264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541264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Execution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541264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Awards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541264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Legally binding master contracts, e-auction awards, and index formulas locked in.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7114032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114032" y="1051560"/>
            <a:ext cx="1572768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1" name="Text 28"/>
          <p:cNvSpPr/>
          <p:nvPr/>
        </p:nvSpPr>
        <p:spPr>
          <a:xfrm>
            <a:off x="7205472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5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REALIZED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205472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₹68.00 Cr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7205472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 Realized *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7205472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ERP invoice payments showing direct P&amp;L recurring EBITDA expansion.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457200" y="3090672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7200" y="3090672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7" name="Text 34"/>
          <p:cNvSpPr/>
          <p:nvPr/>
        </p:nvSpPr>
        <p:spPr>
          <a:xfrm>
            <a:off x="594360" y="318211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VALIDATED SAVINGS: ₹47.90 Cr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594360" y="342900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initiatives represent immediate, low-risk sourcing interventions that have passed engineering specification reviews and vendor capacity checks. These 5 initiatives can be deployed within 90 days to deliver immediate P&amp;L cash savings.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709160" y="3090672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09160" y="3090672"/>
            <a:ext cx="397764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41" name="Text 38"/>
          <p:cNvSpPr/>
          <p:nvPr/>
        </p:nvSpPr>
        <p:spPr>
          <a:xfrm>
            <a:off x="4846320" y="318211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 REALIZED SAVINGS: ₹68.00 Cr *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4846320" y="342900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Classified Realized Savings represents separate historical realized savings tracked in Procucev forensic database; not additive to Wave-1 opportunity. Prevents double-counting between past completed initiatives and forward-looking pipeline.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4" name="Text 41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23 OF 30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LEDGER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Realization: Wave 1 Initiative Tracking &amp; Milestone Status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01168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1828800"/>
                <a:gridCol w="1097280"/>
                <a:gridCol w="1097280"/>
                <a:gridCol w="9144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Initiative Name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Category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Target Levers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Addressable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Timeline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Packaging Bags Master E-Auction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Packaging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E-Auction &amp; Index Linkage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₹947.26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₹14.50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1-30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Grinding Media Rate Harmonization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Consumables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Price Variance Arbitrage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₹412.00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₹11.20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15-45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Imported Fuel Benchmark Realignment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Energy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PCBI Benchmark Index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₹1,480.09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₹9.80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30-60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Industrial Lubricants Synthetic Pooling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Maintenance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Volume Aggregation &amp; OEM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₹186.00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₹6.40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45-75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Refractory Bricks Spec Standardization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Raw Materials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Vendor Panelling &amp; Aggregation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₹265.00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₹6.00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60-90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246120"/>
            <a:ext cx="8229600" cy="402336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3101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WAVE 1 VALIDATED OPPORTUNITY: ₹47.90 Cr  (Ready for Immediate 90-Day Execution across 5 Pre-Qualified Initiatives)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457200" y="3767328"/>
            <a:ext cx="3977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94360" y="3822192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PRE-QUALIFIED SUPPLIER READINESS: All 5 Wave 1 initiatives have identified &gt;= 3 pre-qualified manufacturers with verified production capacity. Technical specifications have been matched against plant engineering standards.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4709160" y="3767328"/>
            <a:ext cx="3977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846320" y="3822192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P&amp;L CASH SAVINGS TIMELINE: Realized savings flow directly into plant operational budgets starting Month 2 of implementation. The Procucev invoice tracking dashboard matches every invoice rate against baseline contracts.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13" name="Text 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24 OF 30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SCHEDULE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Execution Roadmap: Phased 90-Day Implementation Timeline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1-30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Mobilize &amp; Quick Wins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 joint commercial working group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Verify packaging specs across 26 plants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Issue RFP for 320M HDPE Bags reverse auction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Lock in ERP price tolerance thresholds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₹14.50 Cr Tender Ready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542032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4" name="Text 11"/>
          <p:cNvSpPr/>
          <p:nvPr/>
        </p:nvSpPr>
        <p:spPr>
          <a:xfrm>
            <a:off x="2633472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31-60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2633472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Tenders &amp; Panelling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633472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Conduct live reverse auction for packaging bags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Harmonize grinding media rates to ₹76/kg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Execute corridor bidding for secondary freight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Issue technical RFPs for lubricant consolidation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615184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51760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₹25.70 Cr In Process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626864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1" name="Text 18"/>
          <p:cNvSpPr/>
          <p:nvPr/>
        </p:nvSpPr>
        <p:spPr>
          <a:xfrm>
            <a:off x="4718304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61-90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718304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Execution &amp; Handover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718304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Execute master frame agreements with winners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Implement index-linked fuel contracts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Consolidate 912 tail suppliers into panels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Deploy Procucev invoice tracking dashboard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700016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36592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 Wave 1 Locked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711696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90+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6803136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Value Run-Rate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803136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Expand sourcing interventions to Wave 2 spares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Automate quarterly market index resets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Audit supplier delivery SLAs monthly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Maintain zero off-contract purchase drift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6784848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 Full Run-Rate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VELOCITY PRINCIPLE: Wave 1 is structured for rapid 90-day cash realization without disrupting daily plant operations. Early packaging and grinding media tenders deliver immediate proof-of-value, building organizational momentum for broader cross-plant consolidation.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25 OF 30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Recommendations: Multi-Year Procurement Roadmap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3977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1: YEAR 1 VALUE CAPTURE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₹47.90 Cr Validated + Wave 2 Initiation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64592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Deploy Wave 1 e-auctions across Packaging Bags (₹14.50 Cr) and Grinding Media (₹11.20 Cr).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Execute petcoke and domestic coal index formula contracts (₹9.80 Cr strategic timing).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Standardize top 100 consumable SKUs across 26 plants and establish 60/90 day terms.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Implement real-time invoice rate verification in ERP to stop contract price drift.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105156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4846320" y="11430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2: YEAR 2 RUN-RATE REALIZATION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Full ₹78.72 Cr Direct Savings Run-Rate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846320" y="164592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Consolidate 912 tail suppliers into preferred panelling tiers (₹26.40 Cr indicative value *).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Aggregate national demand on capital equipment spares and refractory consumables.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Automate catalog purchasing across plants to capture 20% process effort reduction.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Embed continuous PCBI commodity price monitoring to optimize annual re-contracting.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PROCUREMENT VISION: Transforming UltraTech procurement from decentralized transactional purchasing into a high-leverage strategic competency ensures permanent structural cost advantages and superior EBITDA margins against cement industry peers.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16" name="Text 1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26 OF 30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Domain Authority: Cement &amp; Heavy Manufacturing Provenance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₹45,000+ Cr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AUDITED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48640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Extensive forensic spend analysis across cement, metals, mining, and heavy process manufacturing enterprises.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Extensive Scale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42032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4" name="Text 11"/>
          <p:cNvSpPr/>
          <p:nvPr/>
        </p:nvSpPr>
        <p:spPr>
          <a:xfrm>
            <a:off x="2633472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Index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633472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633472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industrial commodity benchmark indices covering imported fuels, chemicals, packaging, and freight rates.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615184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51760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626864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1" name="Text 18"/>
          <p:cNvSpPr/>
          <p:nvPr/>
        </p:nvSpPr>
        <p:spPr>
          <a:xfrm>
            <a:off x="4718304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Cement Ops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718304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PLAYBOOKS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718304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category experience across limestone extraction, clinker burning, grinding mills, and bulk terminals.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700016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36592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Mastery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711696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Audited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6803136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P&amp;L CASH REALIZATION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803136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 execution model verifying actual rate reductions against ERP payment registers with zero fictitious savings.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784848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 Trust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EXECUTION ADVANTAGE: Procucev is not a generalist management consultancy. We deploy procurement practitioners, commodity data scientists, and dynamic auction choreographers who work alongside UltraTech plant teams to deliver hard EBITDA results.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27 OF 30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GOVERNANCE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Customer Procurement Data is Protected: Trust &amp; Governance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AES-256-GCM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Standard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transactional line items, unit rates, supplier names, and plant IDs are encrypted with AES-256-GCM using unique per-tenant keys.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FIPS-Grade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42032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4" name="Text 11"/>
          <p:cNvSpPr/>
          <p:nvPr/>
        </p:nvSpPr>
        <p:spPr>
          <a:xfrm>
            <a:off x="2633472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633472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Training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Isolation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633472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UltraTech procurement data is processed in an isolated tenant enclave. Data is NEVER shared or used to train public machine learning models.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615184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51760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626864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1" name="Text 18"/>
          <p:cNvSpPr/>
          <p:nvPr/>
        </p:nvSpPr>
        <p:spPr>
          <a:xfrm>
            <a:off x="4718304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718304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Line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718304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finding carries an immutable checksum linked directly back to specific SAP invoice and PO line-item numbers.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700016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36592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Provenance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711696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803136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SOC-2 / ISO 27001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803136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Hardened cloud infrastructure with role-based access control (RBAC), multi-factor authentication, and automated audit logging on all queries.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784848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Ready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DATA INTEGRITY PLEDGE: Procucev guarantees full legal and technical custody of customer confidential information. Commercial rate intelligence remains strictly proprietary to UltraTech Cement Limited and is safeguarded under mutual non-disclosure agreements.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28 OF 30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Decision: Converting Opportunity into Realized EBITDA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Sourcing Signoff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" y="16002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 ₹47.90 Cr Tenders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execution of 5 pre-qualified Wave 1 initiatives across packaging bags, grinding media, and imported fuel benchmarks. Direct P&amp;L cash realization in 90 days.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94360" y="2852928"/>
            <a:ext cx="2377440" cy="384048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29260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WAVE 1 RFPs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246120" y="10515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5" name="Text 12"/>
          <p:cNvSpPr/>
          <p:nvPr/>
        </p:nvSpPr>
        <p:spPr>
          <a:xfrm>
            <a:off x="3383280" y="1143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2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38328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Group Charter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383280" y="16002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 Plant Procurement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 a joint UltraTech-Procucev Sourcing Steering Committee connecting central procurement with plant managers to ensure operational adoption.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383280" y="2852928"/>
            <a:ext cx="2377440" cy="38404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0" name="Text 17"/>
          <p:cNvSpPr/>
          <p:nvPr/>
        </p:nvSpPr>
        <p:spPr>
          <a:xfrm>
            <a:off x="3383280" y="29260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 WORKING GROUP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035040" y="10515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1143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220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Authorization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172200" y="16002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Reverse Bidding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17220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 Procucev dynamic reverse e-auction rules and controlled volume allocation framework for high-competition packaging and freight categories.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172200" y="2852928"/>
            <a:ext cx="2377440" cy="38404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8" name="Text 25"/>
          <p:cNvSpPr/>
          <p:nvPr/>
        </p:nvSpPr>
        <p:spPr>
          <a:xfrm>
            <a:off x="6172200" y="29260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 E-AUCTIONS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57200" y="3493008"/>
            <a:ext cx="8229600" cy="1115568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4360" y="35844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 IS IDENTIFIED. NOW IT IS TIME TO CONVERT IT.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₹5,920.35 Cr of audited spend, Procucev has certified ₹78.72 Cr in defensible direct recurring savings and ₹14.88 Cr in strategic market upside. Execution begins immediately upon steering committee authorization.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94360" y="429768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leadership@procucev.com  |  aiCEV Procurement Intelligence Platform  |  Boardroom Edition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29 OF 30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APPENDIX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Appendix: Methodological Provenance &amp; Transaction Traceability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24028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4297680"/>
              </a:tblGrid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Metric Invariant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Audited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Reconciliation Scope &amp; Provenance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Total Spend Evaluated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₹5,920.35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31,671 invoice line items (April 2024 - March 2026, 24 Months)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Commercial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₹4,931.00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Excludes non-controllable taxes, duties, and inter-unit transfers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Gross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₹173.12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Sum of individual potentials across 10 strategic sourcing levers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Multi-Lever Overlaps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₹62.80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Mathematical deduplication between tenders, volume, and rate cuts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Policy Exclusions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₹16.72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Carve-out of long-term contracts and single-source OEM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Net Defensible 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₹93.60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Certified value pool: ₹78.72 Cr Direct + ₹14.88 Cr Strategic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Direct P&amp;L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₹78.72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Monetized recurring EBITDA cost reduction across 26 plants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Strategic Market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₹14.88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Commodity benchmark alignment; tracked separately from direct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57200" y="3429000"/>
            <a:ext cx="73152" cy="1188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8" name="Text 4"/>
          <p:cNvSpPr/>
          <p:nvPr/>
        </p:nvSpPr>
        <p:spPr>
          <a:xfrm>
            <a:off x="640080" y="3493008"/>
            <a:ext cx="7863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CERTIFIED DIAGNOSTIC AUDIT ATTESTATION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Executive Brief is certified by Procucev Enterprise Diagnostic Analytics Engine. All numerical invariants balance with ₹0.00 variance across the transactional ledger. Process productivity (20.0% effort reduction across 824 POs) and risk avoidance (₹420.00 Cr spend de-risked) are strictly non-monetized to guarantee absolute boardroom credibility.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Exclusively for UltraTech Cement Limited  |  aiCEV by Procucev  |  Audit Certified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30 OF 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&amp; Savings Diagnostic - Client Alpha</dc:title>
  <dc:subject>PptxGenJS Presentation</dc:subject>
  <dc:creator>Procucev Advisory Services</dc:creator>
  <cp:lastModifiedBy>Procucev Advisory Services</cp:lastModifiedBy>
  <cp:revision>1</cp:revision>
  <dcterms:created xsi:type="dcterms:W3CDTF">2026-10-03T03:51:08Z</dcterms:created>
  <dcterms:modified xsi:type="dcterms:W3CDTF">2026-10-03T03:51:08Z</dcterms:modified>
</cp:coreProperties>
</file>