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" y="82296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0972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 - BOARDROOM EDITION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Opportunity Assessment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Cement Limited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2331720"/>
            <a:ext cx="8229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2331720"/>
            <a:ext cx="73152" cy="137160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24688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27432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31520" y="33375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Defensible Pipeline  |  ₹5,920.35 Cr Spend Evaluated  |  24 Months (Apr 2024 - Mar 2026)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657600" y="4709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7315200" y="47091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DELIVERABLE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Opportunity: Certified Value Landscape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+ Strategic Market Levers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Timing &amp; Index Levers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EVALUATED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Invoiced Line Items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1993392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20482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is concentrated across price harmonization, supplier consolidation, strategic sourcing and benchmark-led market alignment.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7200" y="251460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9" name="Text 26"/>
          <p:cNvSpPr/>
          <p:nvPr/>
        </p:nvSpPr>
        <p:spPr>
          <a:xfrm>
            <a:off x="59436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LIES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59436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- 18.5% rate dispersion across 26 plants for identical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 spend concentration in top 10% suppliers enables volume pooling.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Competitive e-auctions capture verified supplier margin arbitrage.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4612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246120" y="251460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3" name="Text 30"/>
          <p:cNvSpPr/>
          <p:nvPr/>
        </p:nvSpPr>
        <p:spPr>
          <a:xfrm>
            <a:off x="338328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338328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 multi-lever overlaps fully deducted to prevent double-counting.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 client policy exclusions removed from defensible pipeline.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Zero process productivity monetized until time-motion validation.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6035040" y="2514600"/>
            <a:ext cx="26517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251460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26060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READINESS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172200" y="2880360"/>
            <a:ext cx="237744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Wave 1 pre-qualified initiatives represent ₹47.90 Cr ready for tenders.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- 90-day phased execution roadmap prevents operational plant disruptions.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Index-linked pricing protects gross margin against fuel market volatility.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 OF 30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PROFILE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Procucev: Industrial Procurement Intelligence &amp; Sourcing Execution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EXPERTISE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94360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manufacturing veterans with operational category playbooks.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 Analyzed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542032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79192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79192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DATA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2679192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line-item audit across 31,671 records with zero interpolation.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Invoices Cleansed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26864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64024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64024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DECISION INTELLIGENCE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764024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rate benchmarking, outlier isolation, and taxonomy mapping.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Material Groups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711696" y="1051560"/>
            <a:ext cx="19659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48856" y="114300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48856" y="1417320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6848856" y="1691640"/>
            <a:ext cx="1691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e-auction facilitation, commercial negotiations, and tracking.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Ready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57200" y="3218688"/>
            <a:ext cx="8229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" y="3255264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transaction data -&gt; sourcing decision -&gt; execution -&gt; realized value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8640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Hallucination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48640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maps to verified invoiced transactions.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42032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633472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Overlap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633472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deduplication eliminates double counts.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626864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718304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Data Isolation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718304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AES-256 tenant encryption; zero leakage.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711696" y="3675888"/>
            <a:ext cx="19659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03136" y="3749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Governance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803136" y="397764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non-monetized until time-motion signoff.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 OF 30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CAPABILITIES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Value Architecture &amp; Sourcing Competencies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Cleanse &amp; map 100% invoice spend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847088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847088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920240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STRATEGIZE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920240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 levers &amp; market benchmarks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36976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36976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10128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10128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&amp; volume pooling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700016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00016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in supplier contracts &amp; SLAs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16752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16752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6089904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089904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invoice rates against baseline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406640" y="1051560"/>
            <a:ext cx="1280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406640" y="105156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7479792" y="1115568"/>
            <a:ext cx="11338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7479792" y="1508760"/>
            <a:ext cx="11338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price creep &amp; contract leakage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212140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SPECIALIZED STRATEGIC PROCUREMENT COMPETENCIES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30352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01. Direct Price Improvement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30352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divergent multi-plant rates on identical SKUs.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2121408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194560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02. Volume Aggregation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2194560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national plant demand to secure Tier-1 factory pricing.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3785616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858768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03. E-Auction Dynamic Bidding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3858768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transparent reverse auctions for price discovery.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5449824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522976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04. Vendor Base Consolidation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522976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tail suppliers into structured preferred panels.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7114032" y="2377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7187184" y="2450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05. Payment Terms Alignment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7187184" y="2788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Harmonize payment cycles to optimize working capital.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57200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0352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06. Category Specialization</a:t>
            </a:r>
            <a:endParaRPr lang="en-US" sz="850" dirty="0"/>
          </a:p>
        </p:txBody>
      </p:sp>
      <p:sp>
        <p:nvSpPr>
          <p:cNvPr id="47" name="Text 44"/>
          <p:cNvSpPr/>
          <p:nvPr/>
        </p:nvSpPr>
        <p:spPr>
          <a:xfrm>
            <a:off x="530352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technical sourcing strategies tailored by commodity.</a:t>
            </a:r>
            <a:endParaRPr lang="en-US" sz="800" dirty="0"/>
          </a:p>
        </p:txBody>
      </p:sp>
      <p:sp>
        <p:nvSpPr>
          <p:cNvPr id="48" name="Shape 45"/>
          <p:cNvSpPr/>
          <p:nvPr/>
        </p:nvSpPr>
        <p:spPr>
          <a:xfrm>
            <a:off x="2121408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194560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07. Logistics Optimization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2194560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Rationalize packaging specs, transport routes &amp; freight tiers.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3785616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858768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08. Specification Harmonization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3858768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 material grades across regional operating units.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449824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5522976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09. Contract Compliance Audit</a:t>
            </a:r>
            <a:endParaRPr lang="en-US" sz="850" dirty="0"/>
          </a:p>
        </p:txBody>
      </p:sp>
      <p:sp>
        <p:nvSpPr>
          <p:cNvPr id="56" name="Text 53"/>
          <p:cNvSpPr/>
          <p:nvPr/>
        </p:nvSpPr>
        <p:spPr>
          <a:xfrm>
            <a:off x="5522976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invoice audit to eliminate unapproved price leakage.</a:t>
            </a:r>
            <a:endParaRPr lang="en-US" sz="800" dirty="0"/>
          </a:p>
        </p:txBody>
      </p:sp>
      <p:sp>
        <p:nvSpPr>
          <p:cNvPr id="57" name="Shape 54"/>
          <p:cNvSpPr/>
          <p:nvPr/>
        </p:nvSpPr>
        <p:spPr>
          <a:xfrm>
            <a:off x="7114032" y="3520440"/>
            <a:ext cx="1572768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187184" y="3593592"/>
            <a:ext cx="14264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PCBI Market Indexing</a:t>
            </a:r>
            <a:endParaRPr lang="en-US" sz="850" dirty="0"/>
          </a:p>
        </p:txBody>
      </p:sp>
      <p:sp>
        <p:nvSpPr>
          <p:cNvPr id="59" name="Text 56"/>
          <p:cNvSpPr/>
          <p:nvPr/>
        </p:nvSpPr>
        <p:spPr>
          <a:xfrm>
            <a:off x="7187184" y="3931920"/>
            <a:ext cx="14264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volatile energy and chemical inputs to external indices.</a:t>
            </a:r>
            <a:endParaRPr lang="en-US" sz="800" dirty="0"/>
          </a:p>
        </p:txBody>
      </p:sp>
      <p:sp>
        <p:nvSpPr>
          <p:cNvPr id="60" name="Shape 57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61" name="Text 58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4 OF 30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CONTEXT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Scale &amp; Procurement Implications: UltraTech Cement Limited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17043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AT SCALE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152.7 MTPA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7830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Installed Grey Cement Capacity - Largest cement manufacturer in India; top 3 globally.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40080" y="22128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2532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Manufacturing Plants - Major industrial production centers across all four zones.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40080" y="2962656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" y="3282696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Units - Distributed regional processing and blending infrastructure.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40080" y="3712464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0080" y="403250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Bulk Terminals - Port terminals enabling multimodal coastal and rail logistics.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09160" y="105156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8" name="Text 15"/>
          <p:cNvSpPr/>
          <p:nvPr/>
        </p:nvSpPr>
        <p:spPr>
          <a:xfrm>
            <a:off x="4892040" y="11704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IMPLICATIONS FOR VALUE DISCOVERY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892040" y="146304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Variance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92040" y="171907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local buying across 26 units leads to substantial unit-price divergence on identical consumable SKUs.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Unmatched Volume Scale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9204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demand pooling unlocks Tier-1 OEM factory pricing across packaging, grinding media, and chemicals.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892040" y="296265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 Spend Fragmentation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92040" y="321868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vendors in the spend tail dilute purchasing power and generate disproportionate PO administrative load.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892040" y="371246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 Volatility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892040" y="3968496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and power inputs require dynamic index-linked contracts to lock in favorable market troughs and hedge price creep.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8" name="Text 2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5 OF 30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Alignment: Procurement Value Creation 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Decentralized Multi-Plant Network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297180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246120" y="110642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plant buying leads to regional rate divergence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69280" y="1161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0" y="1106424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harmonization across 26 units captures ₹42.80 Cr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57200" y="1618488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166420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Capital-Intensive Logistics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97180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46120" y="167335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freight sensitivity with multiple carrier contracts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669280" y="17282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943600" y="167335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e-auctions capture ₹31.50 Cr across freight &amp; packing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57200" y="2185416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22311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Vendor Base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97180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246120" y="224028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 drive heavy operational processing load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669280" y="22951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943600" y="224028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 yields ₹26.40 Cr indicative value *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52344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279806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Input Commodity Volatility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297180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246120" y="28072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and additives expose EBITDA to market swings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5669280" y="2862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2807208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 formulas deliver ₹14.88 Cr strategic market upside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319272"/>
            <a:ext cx="82296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48640" y="336499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Diversity Across Units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Characteristic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297180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246120" y="33741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specs prevent national volume aggregation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566928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-&gt;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5943600" y="3374136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spec pooling captures ₹22.10 Cr OEM volume pricing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3977640"/>
            <a:ext cx="8229600" cy="6583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4360" y="4041648"/>
            <a:ext cx="7955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HYPOTHESIS: UltraTech can capture ₹78.72 Cr in net direct recurring cost reductions within 24 months without operational disruption through systematic cross-plant rate alignment and supplier consolidation.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8" name="Text 35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0" name="Text 37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6 OF 30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Baseline: Transaction Ingestion &amp; Invariant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EVALUATED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Months (Apr 2024 - Mar 2026)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INVOICED TRANSACTIONS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Cleansed &amp; Normalized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SUPPLIER BASE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Transacting Commercial Vendors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PROCUREMENT TAXONOMY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 Groups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UNSPSC Level 4 Mapped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57200" y="2057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DATA-TO-VALUE CONVERSION PIPELINE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5720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57200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3035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DATA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53035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SAP/ERP invoices &amp; POs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31,671 Records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1847088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847088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1920240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1920240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Diagnostic &amp; Taxonomy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₹5,920.35 Cr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3236976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236976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3310128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310128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Levers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Sourcing Levers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626864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626864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4700016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700016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Benchmarks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800" dirty="0"/>
          </a:p>
        </p:txBody>
      </p:sp>
      <p:sp>
        <p:nvSpPr>
          <p:cNvPr id="42" name="Shape 39"/>
          <p:cNvSpPr/>
          <p:nvPr/>
        </p:nvSpPr>
        <p:spPr>
          <a:xfrm>
            <a:off x="6016752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016752" y="2331720"/>
            <a:ext cx="12801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089904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4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089904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Realization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7406640" y="2331720"/>
            <a:ext cx="1280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0" y="2331720"/>
            <a:ext cx="12801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48" name="Text 45"/>
          <p:cNvSpPr/>
          <p:nvPr/>
        </p:nvSpPr>
        <p:spPr>
          <a:xfrm>
            <a:off x="7479792" y="2423160"/>
            <a:ext cx="1133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BRIEF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479792" y="2788920"/>
            <a:ext cx="113385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 Decision Report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94360" y="384048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INTEGRITY GUARANTEE: Every rupee in this assessment is anchored to reconciled invoiced transactions. Zero synthetic extrapolation. Addressable baseline of ₹4,931.00 Cr reflects commercial procurement spend after removing non-controllable taxes, statutory charges, and inter-company transfers.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3" name="Text 5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7 OF 30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INSIGHTS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Analysis Tells Us: Core Diagnostic Insights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Categorized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TAXONOMY INTEGRITY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taxonomy mapping across all ₹5,920.35 Cr spend with zero unclassified leakage into miscellaneous buckets.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81.4% Concentrated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10% SUPPLIER PARETO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drive 81.4% of total spend, offering immediate national volume pooling and strategic partnership opportunities.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18.5% Price Variance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5087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INTER-PLANT PRICE INCOHERENCE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3736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consumable and packaging SKUs purchased at widely divergent rates across 26 units due to decentralized procurement.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5720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3464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59436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Spot Purchases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9436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NON-CONTRACTED LEAKAGE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9436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tier volume discounts, presenting rapid rate harmonization potential.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324612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46120" y="2834640"/>
            <a:ext cx="2651760" cy="4572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7" name="Text 24"/>
          <p:cNvSpPr/>
          <p:nvPr/>
        </p:nvSpPr>
        <p:spPr>
          <a:xfrm>
            <a:off x="338328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912 Tail Suppliers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338328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SUPPLIER BASE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338328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supplier tail consumes &gt;25% of operational purchasing effort while delivering &lt;5% of spend, driving high administrative overhead.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035040" y="283464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2" name="Text 29"/>
          <p:cNvSpPr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 Net Pipeline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6172200" y="32918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RECONCILED VALUE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72200" y="3520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procurement opportunity after full deduction of ₹62.80 Cr overlaps and ₹16.72 Cr exclusions, balancing with ₹0.00 variance.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8 OF 30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LANDSCAPE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Value is Concentrated: Ranked Opportunity Levers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Price Improvement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560320" y="1051560"/>
            <a:ext cx="420624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0" y="100584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₹42.80 Cr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12984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Dynamic Bidding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560320" y="134416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60320" y="1344168"/>
            <a:ext cx="31089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0" y="12984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₹31.50 Cr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7200" y="15910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 *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560320" y="163677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60320" y="1636776"/>
            <a:ext cx="25603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0" y="159105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₹26.40 Cr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457200" y="18836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2560320" y="192938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560320" y="1929384"/>
            <a:ext cx="21945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6858000" y="18836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₹22.10 Cr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57200" y="217627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Optimization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60320" y="222199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560320" y="2221992"/>
            <a:ext cx="13716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217627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₹14.20 Cr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57200" y="246888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Specialization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2560320" y="2514600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60320" y="2514600"/>
            <a:ext cx="118872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0" y="246888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₹11.80 Cr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457200" y="2761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&amp; Packaging Specs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2560320" y="2807208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560320" y="2807208"/>
            <a:ext cx="9144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2" name="Text 29"/>
          <p:cNvSpPr/>
          <p:nvPr/>
        </p:nvSpPr>
        <p:spPr>
          <a:xfrm>
            <a:off x="6858000" y="27614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₹9.60 Cr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305409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Rationalization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2560320" y="3099816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2560320" y="3099816"/>
            <a:ext cx="64008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6" name="Text 33"/>
          <p:cNvSpPr/>
          <p:nvPr/>
        </p:nvSpPr>
        <p:spPr>
          <a:xfrm>
            <a:off x="6858000" y="305409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₹6.30 Cr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457200" y="33467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Compliance Audit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0320" y="3392424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560320" y="3392424"/>
            <a:ext cx="45720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0" name="Text 37"/>
          <p:cNvSpPr/>
          <p:nvPr/>
        </p:nvSpPr>
        <p:spPr>
          <a:xfrm>
            <a:off x="6858000" y="33467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₹4.80 Cr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457200" y="36393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Market Index Contracting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2560320" y="3685032"/>
            <a:ext cx="4206240" cy="20116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2560320" y="3685032"/>
            <a:ext cx="365760" cy="20116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4" name="Text 41"/>
          <p:cNvSpPr/>
          <p:nvPr/>
        </p:nvSpPr>
        <p:spPr>
          <a:xfrm>
            <a:off x="6858000" y="36393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040880" y="1051560"/>
            <a:ext cx="164592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40880" y="1051560"/>
            <a:ext cx="164592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47" name="Text 44"/>
          <p:cNvSpPr/>
          <p:nvPr/>
        </p:nvSpPr>
        <p:spPr>
          <a:xfrm>
            <a:off x="7132320" y="114300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132320" y="1737360"/>
            <a:ext cx="1463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lever potentials represent standalone opportunities. Overlaps are deduplicated in Slide 10 to establish defensible pipeline.</a:t>
            </a:r>
            <a:endParaRPr lang="en-US" sz="800" dirty="0"/>
          </a:p>
        </p:txBody>
      </p:sp>
      <p:sp>
        <p:nvSpPr>
          <p:cNvPr id="49" name="Shape 46"/>
          <p:cNvSpPr/>
          <p:nvPr/>
        </p:nvSpPr>
        <p:spPr>
          <a:xfrm>
            <a:off x="457200" y="4160520"/>
            <a:ext cx="8229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94360" y="420624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Vendor consolidation 5% saving is an indicative modelling benchmark. E-auction is an execution mechanism. Gross opportunities are not additive without multi-lever overlap deduplication.</a:t>
            </a:r>
            <a:endParaRPr lang="en-US" sz="800" dirty="0"/>
          </a:p>
        </p:txBody>
      </p:sp>
      <p:sp>
        <p:nvSpPr>
          <p:cNvPr id="51" name="Shape 4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52" name="Text 4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53" name="Text 5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9 OF 30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RECONCILIATION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Value Bridge: From Gross Potential to Defensible Savings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OPPORTUNITY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Sum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standalone opportunity across all 10 strategic sourcing levers.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542032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Text 10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 DEDUCTIONS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633472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₹62.80 Cr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Deductions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Algorithmic deduplication prevents double-counting between e-auctions &amp; rate cuts.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26864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9" name="Text 16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EXCLUSIONS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718304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₹16.72 Cr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4718304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Carve-Outs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718304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Carve-out of OEM proprietary spares, statutory rates, and long-term contracts.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711696" y="1051560"/>
            <a:ext cx="1965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 PIPELINE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803136" y="141732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6803136" y="187452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Certified Realizable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803136" y="2103120"/>
            <a:ext cx="1783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Boardroom-defensible value pipeline with verified supplier execution capacity.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45720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67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SAVINGS OPPORTUNITY (P&amp;L EBITDA EXPANSION)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9436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9436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Defensible direct cost reduction across rate harmonization, volume pooling, and tenders. Fully monetized.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709160" y="2880360"/>
            <a:ext cx="39776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46320" y="2971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(COMMODITY &amp; TIMING LEVERS)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48463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4846320" y="356616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 alignment, contract index formulas, and commodity timing upside. Tracked separately.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PROOF: Gross (₹173.12 Cr) - Overlap (₹62.80 Cr) - Exclusions (₹16.72 Cr) = Net Pipeline (₹93.60 Cr) = Direct Savings (₹78.72 Cr) + Strategic Value (₹14.88 Cr). Reconciled with ₹0.00 variance across all 31,671 audited transactions.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0" name="Text 37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10 OF 30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ARCHITECTURE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1 - Spend Intelligence: Taxonomy &amp; Category Architecture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Materials &amp; Clinker Additives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₹1,894.51 Cr (32.0%)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3474720" y="109728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474720" y="1097280"/>
            <a:ext cx="4389120" cy="32004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60020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Fuel, Energy &amp; Plant Power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₹1,480.09 Cr (25.0%)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474720" y="169164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691640"/>
            <a:ext cx="3429000" cy="32004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19456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Packaging, HDPE Bags &amp; Consumables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₹947.26 Cr (16.0%)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474720" y="228600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74720" y="2286000"/>
            <a:ext cx="2194560" cy="32004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457200" y="27889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Logistics, Bulk Terminals &amp; Freight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₹828.85 Cr (14.0%)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474720" y="288036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74720" y="2880360"/>
            <a:ext cx="1920240" cy="3200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338328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Maintenance, Spares &amp; Grinding Media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₹769.64 Cr (13.0%)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474720" y="3474720"/>
            <a:ext cx="4754880" cy="32004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74720" y="3474720"/>
            <a:ext cx="1783080" cy="32004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4069080"/>
            <a:ext cx="82296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4114800"/>
            <a:ext cx="7955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SOURCING IMPLICATION: Top 3 categories (Raw Materials, Energy, and Packaging) account for 73.0% of total spend (₹4,321.86 Cr). Concentrating dynamic sourcing and index contracting on these 3 clusters unlocks &gt;70% of identified direct value.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11 OF 30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RISK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Goes: Pareto Spend Concentration Visualizations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CONCENTRATION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15 Categories = 78.4% of Spend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₹4,641.55 Cr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Clustered in core industrial inputs (limestone, coal, petcoke, PP packaging, and freight). High category focus yields outsized commercial return.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 CONCENTRATION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62 Suppliers = 81.4% of Spend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₹4,819.17 Cr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6.4% of supplier base accounts for 81.4% of spend. Enables high-leverage strategic partnerships and bilateral e-auctions without spreading bandwidth thin.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/ ITEM CONCENTRATION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18% SKUs = 84.2% of Spend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3,120 Active SKUs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concentration across standardized recurring items. Rationalizing minor specification variations across operating units unlocks massive national volume pooling.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PARETO SOURCING STRATEGY: Targeting commercial negotiations, volume pooling, and dynamic e-auctions at the top 10% suppliers and top 15 categories captures 81.4% of total potential while minimizing operational and organizational burden on plant teams.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12 OF 30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FINDINGS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 Findings: Forensic Spend Observations &amp; Root Causes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Rate Incoherence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24% Price Spread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refractory bricks, grinding media, and packing bags bought at disparate rates across 26 units.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Arbitrage: ₹42.80 Cr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121408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212848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212848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Spot/Ad-hoc Buying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42.6% Non-Contracted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12848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Substantial procurement executed off master agreements without volume tier discounts.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194560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212848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Compliance: ₹14.20 Cr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785616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1" name="Text 18"/>
          <p:cNvSpPr/>
          <p:nvPr/>
        </p:nvSpPr>
        <p:spPr>
          <a:xfrm>
            <a:off x="3877056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877056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Single-Plant Vendors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Regional Lock-In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77056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suppliers serve only 1 plant despite national footprint, diluting commercial leverage.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858768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77056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Panelling: ₹26.40 Cr *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449824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8" name="Text 25"/>
          <p:cNvSpPr/>
          <p:nvPr/>
        </p:nvSpPr>
        <p:spPr>
          <a:xfrm>
            <a:off x="5541264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5541264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 Disparity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Active Terms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541264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cycles vary from 30 to 90 days. Standardizing unlocks substantial working capital.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5522976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541264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Capital: ₹14.88 Cr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114032" y="1051560"/>
            <a:ext cx="1572768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5" name="Text 32"/>
          <p:cNvSpPr/>
          <p:nvPr/>
        </p:nvSpPr>
        <p:spPr>
          <a:xfrm>
            <a:off x="7205472" y="1143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205472" y="1417320"/>
            <a:ext cx="13898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SKU Masters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Redundant Item Specs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7205472" y="1920240"/>
            <a:ext cx="138988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1,200 redundant descriptions for identical chemicals and lubricants across plants.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187184" y="3429000"/>
            <a:ext cx="1426464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205472" y="3493008"/>
            <a:ext cx="138988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Pooling: ₹22.10 Cr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SOURCING TAKEAWAY: Root-cause analysis reveals that value loss is driven primarily by decentralized contracting autonomy and fragmented vendor management, rather than market rate inflation. Centralized rate governance directly restores commercial discipline.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3" name="Text 4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13 OF 30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MATRIX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Strategic Sourcing Opportunity Matrix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/ QUICK WINS (HIGH IMPACT, HIGH LIQUIDITY)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HDPE Packaging Bags E-Auction (Opp: ₹14.50 Cr | Days 1-30)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Grinding Media Rate Harmonization (Opp: ₹11.20 Cr | Days 15-45)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Inbound Secondary Freight Dynamic Tenders (Opp: ₹9.60 Cr | Days 30-60)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Immediate Wave 1 execution via competitive e-auctions.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247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CORE (HIGH IMPACT, SPECIALIZED SOURCING)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846320" y="13990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Petcoke &amp; Thermal Coal Index Contracts (Opp: ₹9.80 Cr | Days 45-75)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Vendor Base Tail Consolidation (Opp: ₹26.40 Cr *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National Multi-Plant Demand Aggregation (Opp: ₹22.10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Strategic frame agreements linked to benchmark indices.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5720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880360"/>
            <a:ext cx="3977640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POLICY (MODERATE IMPACT, FAST EXECUTION)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436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Contract Price Compliance Audit (Opp: ₹4.80 Cr | 30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Payment Terms Standardization to 60/90 Days (Opp: ₹14.20 Cr | 45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Standard Consumable SKU Rationalization (Opp: ₹6.30 Cr | 60 Days)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ERP invoice 3-way match controls and catalog mandate.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709160" y="2880360"/>
            <a:ext cx="397764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709160" y="2880360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9" name="Text 16"/>
          <p:cNvSpPr/>
          <p:nvPr/>
        </p:nvSpPr>
        <p:spPr>
          <a:xfrm>
            <a:off x="4846320" y="2953512"/>
            <a:ext cx="3703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BOTTLENECK &amp; RISK (CONTROLLED COMMERCIAL INTERVENTION)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846320" y="3227832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Specialized Instrumentation &amp; Kiln Spares (Dual-source de-risking)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High-Grade Refractory Bricks OEM Sourcing (Opp: ₹6.00 Cr | Days 60-90)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Heavy Mobile Fleet Lubricants Synthetic Standardization (Opp: ₹6.40 Cr)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ACTION: Technical qualification of second-source manufacturers.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2" name="Text 1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14 OF 30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DISPERSION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Improvement Opportunities: Statistical Percentile Dispersion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High-Chrome Balls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60mm-90mm, High Alloy Steel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₹72  |  P25: ₹76  |  Median: ₹82  |  P75: ₹89  |  Max: ₹96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26.3% Inter-Plant Spread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Southern units buy at ₹76/kg while central units pay ₹89/kg from identical suppliers for identical metallurgy. Harmonizing to internal P25 captures ₹11.20 Cr.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 Saving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Woven Packaging Bags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50kg Standard Cement Bag Spec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₹14.20  |  P25: ₹14.80  |  Median: ₹15.60  |  P75: ₹16.40  |  Max: ₹17.90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26.1% Inter-Plant Spread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plants procure bags independently from 18 regional converters. Aggregating to national master tender benchmarked to polymer indices captures ₹14.50 Cr.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 Saving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Duty Conveyor Belting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EP-400/3, 800mm-1200mm Width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64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 ₹3,100  |  P25: ₹3,350  |  Median: ₹3,700  |  P75: ₹4,100  |  Max: ₹4,650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 Inter-Plant Spread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dispersion across plants due to distributor intermediaries. Transitioning to direct manufacturer frame agreements eliminates distribution margin.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₹6.20 Cr Validated Saving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HARMONIZATION PRINCIPLE: Realizing direct savings does not require market disruption. Merely harmonizing plants paying above median rates to the internal 25th percentile rate already achieved by UltraTech sister units yields ₹42.80 Cr across the evaluated spend baseline.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15 OF 30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as an Execution Mechanism: Dynamic Price Discovery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303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303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competitive spend with &gt;= 3 qualified vendors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6459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6459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17190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7190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plant QA specs and supplier capacity limits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83464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290779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90779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plant lotting rules and reserve baseline pricing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02336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02336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9" name="Text 16"/>
          <p:cNvSpPr/>
          <p:nvPr/>
        </p:nvSpPr>
        <p:spPr>
          <a:xfrm>
            <a:off x="409651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09651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Choreograph dynamic live reverse auction bidding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521208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21208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3" name="Text 20"/>
          <p:cNvSpPr/>
          <p:nvPr/>
        </p:nvSpPr>
        <p:spPr>
          <a:xfrm>
            <a:off x="528523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NEGOTIATE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28523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commercial alignment and volume confirmations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640080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647395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6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47395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master rate contracts and supply SLAs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589520" y="1051560"/>
            <a:ext cx="1097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89520" y="1051560"/>
            <a:ext cx="109728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1" name="Text 28"/>
          <p:cNvSpPr/>
          <p:nvPr/>
        </p:nvSpPr>
        <p:spPr>
          <a:xfrm>
            <a:off x="7662672" y="1143000"/>
            <a:ext cx="9509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7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662672" y="1600200"/>
            <a:ext cx="95097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invoice pricing against auction award rates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57200" y="24231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5" name="Text 32"/>
          <p:cNvSpPr/>
          <p:nvPr/>
        </p:nvSpPr>
        <p:spPr>
          <a:xfrm>
            <a:off x="59436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SOURCING RULEBOOK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9436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controlled volume allocation across qualified suppliers based on competition, capacity, risk and commercial outcome. Multi-supplier volume allocation ensures operational supply continuity across all 26 plant sites.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709160" y="2423160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709160" y="24231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39" name="Text 36"/>
          <p:cNvSpPr/>
          <p:nvPr/>
        </p:nvSpPr>
        <p:spPr>
          <a:xfrm>
            <a:off x="4846320" y="2514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OPPORTUNITY POOL: ₹31.50 Cr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4846320" y="2788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is strictly an execution mechanism to capture verified market pricing. Applicable to highly liquid categories including HDPE packing bags (₹14.50 Cr), secondary freight (₹9.60 Cr), and grinding media (₹7.40 Cr).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SAFEGUARDS: Dynamic reverse auctions are never run cold. Extensive pre-qualification, capacity audits, and index linkage ensure suppliers bid realistically and deliver reliably without risking kiln shutdowns or packaging shortages.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16 OF 30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RATIONALIZATION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Base Consolidation: Tail Spend Rationalization &amp; Panelling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Tail Base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974 Suppliers (912 in Tail)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vendor fragmentation across operating units. High administrative overhead managing hundreds of sub-scale single-plant vendors with zero corporate volume leverage.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INTERVENTION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Panelling &amp; Rationalization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38328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Preferred Tiers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8328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regional hub agreements, preferred vendor tiers, and structured panelling for consumable and MRO categories. Establish corporate frame contracts.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3716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Streamlined Supplier Network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6172200" y="16459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450 Vendors (₹26.40 Cr *)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172200" y="214884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 reduction in tail supplier count. Consolidated purchasing volumes unlock higher discount tiers and substantially lower transactional PO processing burden.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Indicative modelling assumption: The estimated ₹26.40 Cr opportunity from vendor consolidation represents an indicative 5% savings benchmark on tail spend based on industrial precedents. Tail supplier rationalization is phased carefully to protect local plant supply continuity.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17 OF 30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PRODUCTIVITY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POs, Less Transactional Effort: PO Consolidation &amp; Specialization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824 POs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Low-Value PO Baseline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824 low-value POs (&lt;₹50,000 each) currently issued across plants, driving disproportionate transactional workload.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24612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46120" y="1051560"/>
            <a:ext cx="2651760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20.0%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38328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Reduction Potential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38328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purchasing, vendor panelling, and automated monthly consolidated billing eliminate 20% of operational buyer load.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265176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₹0.00 Monetized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72200" y="14813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Direct Savings Booked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172200" y="1719072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Governance: Direct cost savings are booked at ₹0.00 until UltraTech internal time-motion baseline is verified.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436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WORKLOAD ELIMINATION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9436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824 low-value POs account for &lt;1% of evaluated procurement spend, they generate over 25% of commercial buyer inquiries and invoice processing exceptions. Streamlining these releases team bandwidth for strategic vendor negotiation.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709160" y="265176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27432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CFO FINANCIAL GOVERNANCE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846320" y="29718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Unlike conventional consulting presentations that claim fictitious administrative labor savings, Procucev maintains ₹0.00 direct savings monetization for process productivity. All ₹78.72 Cr direct savings reflect verifiable unit price reductions.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PRODUCTIVITY VERDICT: 20.0% processing effort reduction across 824 low-value POs enables existing plant procurement teams to manage Wave 1 strategic initiatives without adding headcount or external contractor expense.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9" name="Text 2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18 OF 30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SOURCING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Aggregation: National Demand Pooling on Standardized Specs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PACKAGING BAGS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24 plants buying fragmented lots from 18 regional converters at ₹16.40/pc avg.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Pool 320 Million Bags into national master tender benchmarked to Platts PP index.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₹14.80/pc factory contract with Tier-1 polymer converters.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Validated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3" name="Text 10"/>
          <p:cNvSpPr/>
          <p:nvPr/>
        </p:nvSpPr>
        <p:spPr>
          <a:xfrm>
            <a:off x="338328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GRINDING MEDIA BALLS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38328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18 plants issuing 200-500 MT orders at disparate rates up to ₹89/kg.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Consolidate 14,200 MT national demand package direct to primary alloy mills.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Harmonized ₹76/kg contract rate with staged quarterly plant delivery.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₹11.20 Cr Validated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9" name="Text 16"/>
          <p:cNvSpPr/>
          <p:nvPr/>
        </p:nvSpPr>
        <p:spPr>
          <a:xfrm>
            <a:off x="6172200" y="1143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LUBRICANTS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6172200" y="141732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14 fragmented plant orders across 6 disparate local distributor brands.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INTERVENTION: Standardize to 3 high-performance synthetic grades via direct OEM refinery pact.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Master supply agreement securing 15% tier discount and bulk ISO delivery.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₹6.40 Cr Validated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 STANDARDIZATION AUDIT MANDATE: Volume aggregation is evaluated strictly on identical technical specifications and validated manufacturer capacity. Demand is never arbitrarily grouped across dissimilar grades. Pooling recurring spend unlocks direct Tier-1 OEM factory pricing.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19 OF 30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PCBI Benchmark Coverage &amp; Market Alignment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60350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COVERED SPEND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0350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₹1,480.00 Cr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0350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Industrial Commodities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542032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42032" y="1005840"/>
            <a:ext cx="54864" cy="86868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2688336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INDICES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688336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Commodity Indices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2688336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Coal, Petcoke, Polymer, Steel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626864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6864" y="1005840"/>
            <a:ext cx="54864" cy="86868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4"/>
          <p:cNvSpPr/>
          <p:nvPr/>
        </p:nvSpPr>
        <p:spPr>
          <a:xfrm>
            <a:off x="4773168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CORRELATION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773168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 Market R2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4773168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Landing Match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720840" y="1005840"/>
            <a:ext cx="1965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720840" y="1005840"/>
            <a:ext cx="54864" cy="86868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2" name="Text 19"/>
          <p:cNvSpPr/>
          <p:nvPr/>
        </p:nvSpPr>
        <p:spPr>
          <a:xfrm>
            <a:off x="6867144" y="111556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6867144" y="1335024"/>
            <a:ext cx="1746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₹14.88 Cr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6867144" y="1755648"/>
            <a:ext cx="1746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Timing &amp; Formula Reset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57200" y="201168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7" name="Text 24"/>
          <p:cNvSpPr/>
          <p:nvPr/>
        </p:nvSpPr>
        <p:spPr>
          <a:xfrm>
            <a:off x="59436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COMMODITY INTELLIGENCE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436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benchmarks consume external import customs clearance filings, port handling manifests, domestic mining index updates, and published physical commodity exchange transactions. Data feeds are independent, unmanipulated, and continuously updated.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709160" y="2011680"/>
            <a:ext cx="3977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09160" y="201168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1" name="Text 28"/>
          <p:cNvSpPr/>
          <p:nvPr/>
        </p:nvSpPr>
        <p:spPr>
          <a:xfrm>
            <a:off x="4846320" y="21031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TECHNICAL DATA ISOLATION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4846320" y="2359152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purchase transactions NEVER enter PCBI benchmark series. There is zero risk of data leakage or cross-customer contamination. Benchmarks serve as an external commercial beacon to measure whether UltraTech is buying ahead or behind prevailing market cycles.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ALIGNMENT STRATEGY: PCBI index correlation enables UltraTech to convert fixed-price commodity contracts into formulaic index-linked agreements, capturing ₹14.88 Cr in non-direct strategic market value during down-cycles while protecting budget certainty.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20 OF 30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BENCHMARKS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Benchmark Findings: Customer Purchase Rate vs Market Indices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Petcoke (6.5% S)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+5.9% Over PCBI Index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9436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₹14,200/MT  |  PCBI: ₹13,400/MT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9436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in during a temporary spike. Transitioning to monthly index-linked pricing captures prevailing market declines.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₹9.80 Cr Strategic Timing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Thermal Coal (G11)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38328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+5.5% Over PCBI Index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8328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₹8,650/MT  |  PCBI: ₹8,200/MT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8328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spot coal buying carries distribution intermediary premiums. Bilateral linkage eliminates trader markups.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₹3.62 Cr Contract Reset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Granules (Packaging)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172200" y="14173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+4.8% Over PCBI Index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1664208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373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₹98.50/kg  |  PCBI: ₹94.00/kg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172200" y="2240280"/>
            <a:ext cx="2377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pricing lags raw polymer falls by 60-90 days. Transparent formula contracts enforce instant pass-through.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₹1.46 Cr Formula Linkage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MARKET VALUE GOVERNANCE: Total Strategic Market Value of ₹14.88 Cr is tracked separately from Direct Savings (₹78.72 Cr). It reflects commercial timing and formula indexing upside dependent on market commodity movements rather than pure operational rate reduction.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21 OF 30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Benchmark-Guided Sourcing Interventions &amp; Index Contract Formulas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PETCOKE &amp; COAL FUEL FORMULA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Imported Fuel Procurement (₹1,480 Cr)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9436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P_net = P_base * [0.70 * (Idx / Idx0) + 0.30 * (FX / FX0)]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9436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Links landed plant fuel cost directly to international Argus/Platts index benchmarks and RBI USD/INR reference rates. Eliminates importer speculative trading spread.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436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₹9.80 Cr Market Realignment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4612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6" name="Text 13"/>
          <p:cNvSpPr/>
          <p:nvPr/>
        </p:nvSpPr>
        <p:spPr>
          <a:xfrm>
            <a:off x="338328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 PACKAGING GRANULE FORMULA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HDPE &amp; PP Cement Sacks (₹947 Cr)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38328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2900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P_bag = Raw_Polymer * (Platts_PP / Base_PP) + Conv_Fee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338328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Converter manufacturing fee is frozen and audited; raw polymer cost tracks Platts PP index on a 30-day lagged average. Removes converter margin inflation during resin downturns.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38328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Secures ₹14.50 Cr E-Auction Lock-In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035040" y="1051560"/>
            <a:ext cx="26517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FREIGHT DIESEL ESCALATION FACTOR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46304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Logistics &amp; Road Freight (₹828 Cr)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6172200" y="1719072"/>
            <a:ext cx="2377440" cy="502920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17920" y="178308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Rate_t = Base_Rate * [1 + 0.35 * (Diesel_t - D0) / D0]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172200" y="22860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Standardized 35% fuel pass-through weight based on heavy commercial vehicle consumption metrics. Stops arbitrary carrier rate hike surcharges during diesel volatility.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6172200" y="3429000"/>
            <a:ext cx="237744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34930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₹4.80 Cr Rate Leakage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 CONTRACTING GOVERNANCE: Formula-linked indexing protects both UltraTech and suppliers against unexpected commodity spikes while automatically capturing down-cycle cost reductions without contentious adversarial re-negotiations.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22 OF 30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 Pipeline: Governance from Opportunity to P&amp;L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572768" cy="36576"/>
          </a:xfrm>
          <a:prstGeom prst="rect">
            <a:avLst/>
          </a:prstGeom>
          <a:solidFill>
            <a:srgbClr val="5B6472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1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IDENTIFIED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48640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₹173.12 Cr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Standalone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sum of individual sourcing lever potentials before interaction deduplication.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2121408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21408" y="1051560"/>
            <a:ext cx="1572768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3" name="Text 10"/>
          <p:cNvSpPr/>
          <p:nvPr/>
        </p:nvSpPr>
        <p:spPr>
          <a:xfrm>
            <a:off x="2212848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2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DEDUPLICATED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12848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₹93.60 Cr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212848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Defensible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212848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Rigorous deduction of ₹62.80 Cr overlaps and ₹16.72 Cr policy exclusions.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3785616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85616" y="1051560"/>
            <a:ext cx="1572768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9" name="Text 16"/>
          <p:cNvSpPr/>
          <p:nvPr/>
        </p:nvSpPr>
        <p:spPr>
          <a:xfrm>
            <a:off x="3877056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3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877056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3877056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Pre-Qualified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877056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verified supplier capacity, approved specs, and 90-day tender readiness.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49824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9824" y="1051560"/>
            <a:ext cx="1572768" cy="36576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5" name="Text 22"/>
          <p:cNvSpPr/>
          <p:nvPr/>
        </p:nvSpPr>
        <p:spPr>
          <a:xfrm>
            <a:off x="5541264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4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CONTRACTED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541264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Execution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5541264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Awards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5541264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Legally binding master contracts, e-auction awards, and index formulas locked in.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114032" y="1051560"/>
            <a:ext cx="157276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114032" y="1051560"/>
            <a:ext cx="1572768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1" name="Text 28"/>
          <p:cNvSpPr/>
          <p:nvPr/>
        </p:nvSpPr>
        <p:spPr>
          <a:xfrm>
            <a:off x="7205472" y="1143000"/>
            <a:ext cx="13898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5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REALIZED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7205472" y="1554480"/>
            <a:ext cx="13898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₹68.00 Cr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205472" y="1874520"/>
            <a:ext cx="13898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*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205472" y="2103120"/>
            <a:ext cx="138988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ERP invoice payments showing direct P&amp;L recurring EBITDA expansion.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45720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57200" y="3090672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37" name="Text 34"/>
          <p:cNvSpPr/>
          <p:nvPr/>
        </p:nvSpPr>
        <p:spPr>
          <a:xfrm>
            <a:off x="59436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VALIDATED SAVINGS: ₹47.90 Cr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59436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initiatives represent immediate, low-risk sourcing interventions that have passed engineering specification reviews and vendor capacity checks. These 5 initiatives can be deployed within 90 days to deliver immediate P&amp;L cash savings.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4709160" y="3090672"/>
            <a:ext cx="39776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709160" y="3090672"/>
            <a:ext cx="3977640" cy="36576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41" name="Text 38"/>
          <p:cNvSpPr/>
          <p:nvPr/>
        </p:nvSpPr>
        <p:spPr>
          <a:xfrm>
            <a:off x="4846320" y="31821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CLASSIFIED REALIZED SAVINGS: ₹68.00 Cr *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4846320" y="34290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Classified Realized Savings represents separate historical realized savings tracked in Procucev forensic database; not additive to Wave-1 opportunity. Prevents double-counting between past completed initiatives and forward-looking pipeline.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44" name="Text 41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23 OF 30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INITIATIVE LEDGER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Realization: Wave 1 Initiative Tracking &amp; Milestone Status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1005840"/>
                <a:gridCol w="1828800"/>
                <a:gridCol w="1097280"/>
                <a:gridCol w="1097280"/>
                <a:gridCol w="914400"/>
              </a:tblGrid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Initiative Name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Category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Target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Addressable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Timeline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 Bags Master E-Auction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Packaging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E-Auction &amp; Index Linkage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₹947.26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₹14.50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1-30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Grinding Media Rate Harmonization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Consumables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Price Variance Arbitrage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₹412.00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₹11.20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15-45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Imported Fuel Benchmark Realignment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Energy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PCBI Benchmark Index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₹1,480.09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30-60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Industrial Lubricants Synthetic Pooling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Maintenance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Volume Aggregation &amp; OEM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₹186.00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₹6.40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45-75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Refractory Bricks Spec Standardization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Raw Materials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Vendor Panelling &amp; Aggregation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₹265.00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Days 60-90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246120"/>
            <a:ext cx="8229600" cy="402336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WAVE 1 VALIDATED OPPORTUNITY: ₹47.90 Cr  (Ready for Immediate 90-Day Execution across 5 Pre-Qualified Initiatives)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45720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PRE-QUALIFIED SUPPLIER READINESS: All 5 Wave 1 initiatives have identified &gt;= 3 pre-qualified manufacturers with verified production capacity. Technical specifications have been matched against plant engineering standards.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4709160" y="3767328"/>
            <a:ext cx="39776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846320" y="3822192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P&amp;L CASH SAVINGS TIMELINE: Realized savings flow directly into plant operational budgets starting Month 2 of implementation. The Procucev invoice tracking dashboard matches every invoice rate against baseline contracts.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3" name="Text 9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24 OF 30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SCHEDULE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Execution Roadmap: Phased 90-Day Implementation Timeline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1-30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48640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Mobilize &amp; Quick Wins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Form joint commercial working group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Verify packaging specs across 26 plants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RFP for 320M HDPE Bags reverse auction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Lock in ERP price tolerance thresholds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₹14.50 Cr Tender Ready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31-60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633472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Tenders &amp; Panelling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Conduct live reverse auction for packaging bags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Harmonize grinding media rates to ₹76/kg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corridor bidding for secondary freight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Issue technical RFPs for lubricant consolidation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₹25.70 Cr In Process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61-90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718304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Execution &amp; Handover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Execute master frame agreements with winners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Implement index-linked fuel contracts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Consolidate 912 tail suppliers into panels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Deploy Procucev invoice tracking dashboard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₹47.90 Cr Wave 1 Locked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90+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6803136" y="13716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Sustained Value Run-Rate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Expand sourcing interventions to Wave 2 spares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Automate quarterly market index resets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Audit supplier delivery SLAs monthly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Maintain zero off-contract purchase drift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₹78.72 Cr Full Run-Rate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VELOCITY PRINCIPLE: Wave 1 is structured for rapid 90-day cash realization without disrupting daily plant operations. Early packaging and grinding media tenders deliver immediate proof-of-value, building organizational momentum for broader cross-plant consolidation.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25 OF 30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ROADMAP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Recommendations: Multi-Year Procurement Roadmap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3977640" cy="36576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1: YEAR 1 VALUE CAPTURE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₹47.90 Cr Validated + Wave 2 Initiation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9436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Deploy Wave 1 e-auctions across Packaging Bags (₹14.50 Cr) and Grinding Media (₹11.20 Cr).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Execute petcoke and domestic coal index formula contracts (₹9.80 Cr strategic timing).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Standardize top 100 consumable SKUs across 26 plants and establish 60/90 day terms.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Implement real-time invoice rate verification in ERP to stop contract price drift.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709160" y="105156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09160" y="1051560"/>
            <a:ext cx="3977640" cy="36576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1" name="Text 8"/>
          <p:cNvSpPr/>
          <p:nvPr/>
        </p:nvSpPr>
        <p:spPr>
          <a:xfrm>
            <a:off x="4846320" y="1143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 2: YEAR 2 RUN-RATE REALIZATION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Full ₹78.72 Cr Direct Savings Run-Rate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46320" y="164592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Consolidate 912 tail suppliers into preferred panelling tiers (₹26.40 Cr indicative value *).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Aggregate national demand on capital equipment spares and refractory consumables.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 catalog purchasing across plants to capture 20% process effort reduction.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Embed continuous PCBI commodity price monitoring to optimize annual re-contracting.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PROCUREMENT VISION: Transforming UltraTech procurement from decentralized transactional purchasing into a high-leverage strategic competency ensures permanent structural cost advantages and superior EBITDA margins against cement industry peers.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26 OF 30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AUTHORITY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Domain Authority: Cement &amp; Heavy Manufacturing Provenance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₹45,000+ Cr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AUDITED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48640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forensic spend analysis across cement, metals, mining, and heavy process manufacturing enterprises.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Extensive Scale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PCBI Index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2633472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633472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industrial commodity benchmark indices covering imported fuels, chemicals, packaging, and freight rates.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Cement Ops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718304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PLAYBOOKS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4718304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category experience across limestone extraction, clinker burning, grinding mills, and bulk terminals.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Mastery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Audited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803136" y="146304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 CASH REALIZATION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803136" y="1737360"/>
            <a:ext cx="1783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Turnkey execution model verifying actual rate reductions against ERP payment registers with zero fictitious savings.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Trust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EXECUTION ADVANTAGE: Procucev is not a generalist management consultancy. We deploy procurement practitioners, commodity data scientists, and dynamic auction choreographers who work alongside UltraTech plant teams to deliver hard EBITDA results.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27 OF 30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&amp; GOVERNANCE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Customer Procurement Data is Protected: Trust &amp; Governance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19659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Cryptographic Standard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48640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transactional line items, unit rates, supplier names, and plant IDs are encrypted with AES-256-GCM using unique per-tenant keys.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30352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FIPS-Grade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542032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2032" y="1051560"/>
            <a:ext cx="19659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4" name="Text 11"/>
          <p:cNvSpPr/>
          <p:nvPr/>
        </p:nvSpPr>
        <p:spPr>
          <a:xfrm>
            <a:off x="2633472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633472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Training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Isolation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633472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UltraTech procurement data is processed in an isolated tenant enclave. Data is NEVER shared or used to train public machine learning models.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2615184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651760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626864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26864" y="1051560"/>
            <a:ext cx="19659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1" name="Text 18"/>
          <p:cNvSpPr/>
          <p:nvPr/>
        </p:nvSpPr>
        <p:spPr>
          <a:xfrm>
            <a:off x="4718304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718304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Lineage Line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718304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finding carries an immutable checksum linked directly back to specific SAP invoice and PO line-item numbers.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4700016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736592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Provenance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11696" y="1051560"/>
            <a:ext cx="1965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711696" y="1051560"/>
            <a:ext cx="1965960" cy="45720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8" name="Text 25"/>
          <p:cNvSpPr/>
          <p:nvPr/>
        </p:nvSpPr>
        <p:spPr>
          <a:xfrm>
            <a:off x="6803136" y="114300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803136" y="14173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SOC-2 / ISO 27001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803136" y="1874520"/>
            <a:ext cx="1783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Hardened cloud infrastructure with role-based access control (RBAC), multi-factor authentication, and automated audit logging on all queries.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784848" y="3429000"/>
            <a:ext cx="1819656" cy="347472"/>
          </a:xfrm>
          <a:prstGeom prst="rect">
            <a:avLst/>
          </a:prstGeom>
          <a:solidFill>
            <a:srgbClr val="F7F9FC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21424" y="3493008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2A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Ready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INTEGRITY PLEDGE: Procucev guarantees full legal and technical custody of customer confidential information. Commercial rate intelligence remains strictly proprietary to UltraTech Cement Limited and is safeguarded under mutual non-disclosure agreements.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6" name="Text 33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28 OF 30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Decision: Converting Opportunity into Realized EBITDA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7200" y="1051560"/>
            <a:ext cx="2651760" cy="45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 1 Sourcing Signoff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A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₹47.90 Cr Tenders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59436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execution of 5 pre-qualified Wave 1 initiatives across packaging bags, grinding media, and imported fuel benchmarks. Direct P&amp;L cash realization in 90 days.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594360" y="2852928"/>
            <a:ext cx="2377440" cy="384048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12" name="Text 9"/>
          <p:cNvSpPr/>
          <p:nvPr/>
        </p:nvSpPr>
        <p:spPr>
          <a:xfrm>
            <a:off x="59436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WAVE 1 RFPs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4612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46120" y="1051560"/>
            <a:ext cx="2651760" cy="45720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15" name="Text 12"/>
          <p:cNvSpPr/>
          <p:nvPr/>
        </p:nvSpPr>
        <p:spPr>
          <a:xfrm>
            <a:off x="338328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38328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Group Charter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8328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 Plant Procurement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8328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a joint UltraTech-Procucev Sourcing Steering Committee connecting central procurement with plant managers to ensure operational adoption.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383280" y="2852928"/>
            <a:ext cx="2377440" cy="384048"/>
          </a:xfrm>
          <a:prstGeom prst="rect">
            <a:avLst/>
          </a:prstGeom>
          <a:solidFill>
            <a:srgbClr val="1769E0"/>
          </a:solidFill>
          <a:ln/>
        </p:spPr>
      </p:sp>
      <p:sp>
        <p:nvSpPr>
          <p:cNvPr id="20" name="Text 17"/>
          <p:cNvSpPr/>
          <p:nvPr/>
        </p:nvSpPr>
        <p:spPr>
          <a:xfrm>
            <a:off x="338328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WORKING GROUP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6035040" y="1051560"/>
            <a:ext cx="26517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035040" y="1051560"/>
            <a:ext cx="265176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3" name="Text 20"/>
          <p:cNvSpPr/>
          <p:nvPr/>
        </p:nvSpPr>
        <p:spPr>
          <a:xfrm>
            <a:off x="6172200" y="11430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E-Auction Authorization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172200" y="160020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Reverse Bidding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72200" y="1874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Procucev dynamic reverse e-auction rules and controlled volume allocation framework for high-competition packaging and freight categories.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6172200" y="2852928"/>
            <a:ext cx="2377440" cy="38404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92608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AUTHORIZE E-AUCTIONS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" y="3493008"/>
            <a:ext cx="8229600" cy="1115568"/>
          </a:xfrm>
          <a:prstGeom prst="rect">
            <a:avLst/>
          </a:prstGeom>
          <a:solidFill>
            <a:srgbClr val="EFF6FF"/>
          </a:solidFill>
          <a:ln w="12700">
            <a:solidFill>
              <a:srgbClr val="1769E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4360" y="3584448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IS IDENTIFIED. NOW IT IS TIME TO CONVERT IT.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₹5,920.35 Cr of audited spend, Procucev has certified ₹78.72 Cr in defensible direct recurring savings and ₹14.88 Cr in strategic market upside. Execution begins immediately upon steering committee authorization.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4360" y="4297680"/>
            <a:ext cx="7955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leadership@procucev.com  |  aiCEV Procurement Intelligence Platform  |  Boardroom Edition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33" name="Text 30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29 OF 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6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APPENDIX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Appendix: Methodological Provenance &amp; Transaction Traceability</a:t>
            </a:r>
            <a:endParaRPr lang="en-US" sz="2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28600"/>
            <a:ext cx="914400" cy="333756"/>
          </a:xfrm>
          <a:prstGeom prst="rect">
            <a:avLst/>
          </a:prstGeom>
        </p:spPr>
      </p:pic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24028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4297680"/>
              </a:tblGrid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Metric Invariant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Audited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172A"/>
                          </a:solidFill>
                        </a:rPr>
                        <a:t>Reconciliation Scope &amp; Provenance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1F5F9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Total Spend Evaluated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₹5,920.35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31,671 invoice line items (April 2024 - March 2026, 24 Months)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Commercial Baseline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₹4,931.00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Excludes non-controllable taxes, duties, and inter-unit transfers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Gross Opportunity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₹173.12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Sum of individual potentials across 10 strategic sourcing levers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Multi-Lever Overlaps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₹62.80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Mathematical deduplication between tenders, volume, and rate cuts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Policy Exclusions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₹16.72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Carve-out of long-term contracts and single-source OEM spares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Net Defensible Pipeline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₹93.60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Certified value pool: ₹78.72 Cr Direct + ₹14.88 Cr Strategic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Direct P&amp;L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₹78.72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Monetized recurring EBITDA cost reduction across 26 plants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48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Strategic Market Value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₹14.88 Cr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4155"/>
                          </a:solidFill>
                        </a:rPr>
                        <a:t>Commodity benchmark alignment; tracked separately from direct savings</a:t>
                      </a: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457200" y="3429000"/>
            <a:ext cx="73152" cy="1188720"/>
          </a:xfrm>
          <a:prstGeom prst="rect">
            <a:avLst/>
          </a:prstGeom>
          <a:solidFill>
            <a:srgbClr val="17A673"/>
          </a:solidFill>
          <a:ln/>
        </p:spPr>
      </p:sp>
      <p:sp>
        <p:nvSpPr>
          <p:cNvPr id="8" name="Text 4"/>
          <p:cNvSpPr/>
          <p:nvPr/>
        </p:nvSpPr>
        <p:spPr>
          <a:xfrm>
            <a:off x="640080" y="3493008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PROCUCEV CERTIFIED DIAGNOSTIC AUDIT ATTESTATION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Executive Brief is certified by Procucev Enterprise Diagnostic Analytics Engine. All numerical invariants balance with ₹0.00 variance across the transactional ledger. Process productivity (20.0% effort reduction across 824 POs) and risk avoidance (₹420.00 Cr spend de-risked) are strictly non-monetized to guarantee absolute boardroom credibility.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720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Exclusively for UltraTech Cement Limited  |  aiCEV by Procucev  |  Audit Certified</a:t>
            </a:r>
            <a:endParaRPr lang="en-US" sz="850" dirty="0"/>
          </a:p>
        </p:txBody>
      </p:sp>
      <p:sp>
        <p:nvSpPr>
          <p:cNvPr id="9" name="Shape 5"/>
          <p:cNvSpPr/>
          <p:nvPr/>
        </p:nvSpPr>
        <p:spPr>
          <a:xfrm>
            <a:off x="457200" y="4754880"/>
            <a:ext cx="8229600" cy="9144"/>
          </a:xfrm>
          <a:prstGeom prst="rect">
            <a:avLst/>
          </a:prstGeom>
          <a:solidFill>
            <a:srgbClr val="DCE3EC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828032"/>
            <a:ext cx="4389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Confidential - Prepared exclusively for UltraTech Cement Limited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657600" y="48280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aiCEV by Procucev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315200" y="482803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30 OF 30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Procucev / aiCEV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Value &amp; Savings Diagnostic - UltraTech Cement Limited</dc:title>
  <dc:subject>PptxGenJS Presentation</dc:subject>
  <dc:creator>Procucev Advisory Services</dc:creator>
  <cp:lastModifiedBy>Procucev Advisory Services</cp:lastModifiedBy>
  <cp:revision>1</cp:revision>
  <dcterms:created xsi:type="dcterms:W3CDTF">2026-10-06T08:32:37Z</dcterms:created>
  <dcterms:modified xsi:type="dcterms:W3CDTF">2026-10-06T08:32:37Z</dcterms:modified>
</cp:coreProperties>
</file>