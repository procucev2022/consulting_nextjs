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Brief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 | CFO / CEO Discussion Edition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73152" cy="29260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VALUE THESIS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P&amp;L cost reduction across rate harmonization, volume pooling, and strategic tenders. Reconciled with 0 variance against 31,671 invoice transactions.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80160"/>
            <a:ext cx="54864" cy="896112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371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46320" y="19385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+ Strategic Market Value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228600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286000"/>
            <a:ext cx="54864" cy="896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377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14.88 Cr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846320" y="2944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Contracting Levers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29184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3291840"/>
            <a:ext cx="54864" cy="89611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383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46320" y="3584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5,920.35 Cr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46320" y="39502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 | 24 Months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OF 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Procurement Data Tells 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36192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CONCENTRATION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concentrated in top 10% of suppliers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0552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30552" y="1051560"/>
            <a:ext cx="1536192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2240280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40280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240280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variance on repeat SKUs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03904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03904" y="1051560"/>
            <a:ext cx="1536192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/>
          <p:nvPr/>
        </p:nvSpPr>
        <p:spPr>
          <a:xfrm>
            <a:off x="3913632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GAP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91363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913632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/ non-contracted purchases across plants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77256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77256" y="1051560"/>
            <a:ext cx="1536192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19"/>
          <p:cNvSpPr/>
          <p:nvPr/>
        </p:nvSpPr>
        <p:spPr>
          <a:xfrm>
            <a:off x="5586984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BASE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86984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586984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suppliers accounting for 4.8% spend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50608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50608" y="1051560"/>
            <a:ext cx="1536192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7" name="Text 24"/>
          <p:cNvSpPr/>
          <p:nvPr/>
        </p:nvSpPr>
        <p:spPr>
          <a:xfrm>
            <a:off x="7260336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VALUE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260336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260336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 post-overlap &amp; policy deduction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337560"/>
            <a:ext cx="54864" cy="7315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34472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in price harmonization, supplier consolidation, strategic sourcing and benchmark-led market alignment.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across 26 manufacturing plants and 256 material groups over 24 months of invoiced ledger history.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206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evidence: Boardroom &amp; Evidence Edition - Slides 7-10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OPPORTUNITY IS CONCENTRATED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6012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468880" y="996696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68880" y="996696"/>
            <a:ext cx="329184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9601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4358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1280160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280160"/>
            <a:ext cx="242316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24358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68880" y="1563624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1563624"/>
            <a:ext cx="201168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152704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1051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468880" y="1847088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68880" y="1847088"/>
            <a:ext cx="169164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181051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09397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468880" y="2130552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68880" y="2130552"/>
            <a:ext cx="109728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209397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37744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468880" y="2414016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414016"/>
            <a:ext cx="91440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852160" y="237744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6609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468880" y="2697480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68880" y="2697480"/>
            <a:ext cx="73152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5852160" y="266090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94436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468880" y="2980944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68880" y="2980944"/>
            <a:ext cx="484632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5852160" y="29443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22783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468880" y="3264408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68880" y="3264408"/>
            <a:ext cx="36576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5852160" y="322783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51129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3547872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468880" y="3547872"/>
            <a:ext cx="27432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5852160" y="351129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949440" y="96012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59168" y="1097280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IDENTIFIED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059168" y="155448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173.12 Cr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7059168" y="2103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opportunities are assessed independently and deduplicated before establishing the net defensible pipeline.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opportunities are deduplicated before the defensible pipeline is established. * Indicative 5% vendor consolidation assumption.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sourcing evidence: Boardroom &amp; Evidence Edition - Slides 9, 14-19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1" name="Text 4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Gross Opportunity to Defensible Value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874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173.12 Cr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10 opportunity levers identified pre-deductions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7744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78608" y="1051560"/>
            <a:ext cx="187452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78608" y="1051560"/>
            <a:ext cx="187452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70048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70048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Rs. 62.80 Cr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70048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cross-lever double-counting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498848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00016" y="1051560"/>
            <a:ext cx="187452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016" y="1051560"/>
            <a:ext cx="187452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791456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91456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Rs. 16.72 Cr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91456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Single-source OEM &amp; statutory boundaries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20256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21424" y="1051560"/>
            <a:ext cx="187452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21424" y="1051560"/>
            <a:ext cx="187452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912864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912864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12864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value pipeline ready for capture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2697480"/>
            <a:ext cx="39776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27889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94360" y="29900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94360" y="335584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Harmonization, volume pooling, and competitive tenders delivering direct cost reductions.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09160" y="2697480"/>
            <a:ext cx="39776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27889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46320" y="29900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14.88 Cr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846320" y="335584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reset timing and market index formula contracting tracked distinctly.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reconciliation variance: Rs. 0.00 Cr  |  Full financial reconciliation: Boardroom &amp; Evidence Edition - Slide 10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AUDIT TRAIL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Management Can Trust the Number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Records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PO &amp; invoice lines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0552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30552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221992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21992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221992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master profiled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03904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03904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7" name="Text 14"/>
          <p:cNvSpPr/>
          <p:nvPr/>
        </p:nvSpPr>
        <p:spPr>
          <a:xfrm>
            <a:off x="3895344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895344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Groups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95344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taxonomy categories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77256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77256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2" name="Text 19"/>
          <p:cNvSpPr/>
          <p:nvPr/>
        </p:nvSpPr>
        <p:spPr>
          <a:xfrm>
            <a:off x="5568696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568696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68696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sites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50608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50608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242048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42048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Period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242048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2024 - March 2026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VALUE PROVENANCE ARCHITECTURE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Transaction-level analysis  -&gt;  Category intelligence  -&gt;  Sourcing opportunities  -&gt;  Overlap controls  -&gt;  Defensible pipeline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&amp; INTEGRITY ASSURANCE: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procurement data is handled under configured tenant isolation, access controls, confidentiality and data-governance controls.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069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methodology and audit trail: Boardroom &amp; Evidence Edition - Slides 7 &amp; 30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CAPTURE MECHANISMS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Value Will Be Captured: Execution Pillars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RATE HARMONIZATION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Cross-plant price alignment &amp; benchmark-led negotiations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Inter-plant variance elimination on identical standard SKUs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Ex-works benchmark rate cards indexed to regional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ERP real-time price verification stopping contract rate creep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401568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VOLUME AGGREGATION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01568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fragmented demand &amp; increase supplier leverage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01568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Aggregate multi-plant requirements into national master contracts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Demand consolidation across 26 plants for tier-1 volume discounts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Master distributor agreements for regional MRO consumables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71616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208776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STRATEGIC SOURCING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08776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tenders, rationalization &amp; benchmark alignment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208776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Multi-round competitive bidding and dynamic e-auctions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Strategic vendor base consolidation and panelling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Formula-based commodity indexation (PCBI market linkage)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4107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EXECUTION MECHANISMS: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400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402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402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04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406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Strategy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VALUE CAPTURE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— Immediate Value Capture: Priority Initiatives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6858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247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WAVE 1 OPPORTUNITY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47.90 Cr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3192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pre-qualified commercial initiatives with technical specification signoff, ready for immediate 90-day execution.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Bags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14.50 Cr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8640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&amp; Index Linkage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130552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30552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0" name="Text 17"/>
          <p:cNvSpPr/>
          <p:nvPr/>
        </p:nvSpPr>
        <p:spPr>
          <a:xfrm>
            <a:off x="2221992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221992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11.20 Cr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21992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221992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Variance Arbitrage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221992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2221992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15-45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803904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03904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8" name="Text 25"/>
          <p:cNvSpPr/>
          <p:nvPr/>
        </p:nvSpPr>
        <p:spPr>
          <a:xfrm>
            <a:off x="3895344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895344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9.80 Cr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895344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895344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Index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895344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0"/>
          <p:cNvSpPr/>
          <p:nvPr/>
        </p:nvSpPr>
        <p:spPr>
          <a:xfrm>
            <a:off x="3895344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30-60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477256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77256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6" name="Text 33"/>
          <p:cNvSpPr/>
          <p:nvPr/>
        </p:nvSpPr>
        <p:spPr>
          <a:xfrm>
            <a:off x="5568696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68696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6.40 Cr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568696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568696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Pooling &amp; OEM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568696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8"/>
          <p:cNvSpPr/>
          <p:nvPr/>
        </p:nvSpPr>
        <p:spPr>
          <a:xfrm>
            <a:off x="5568696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45-75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50608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50608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4" name="Text 41"/>
          <p:cNvSpPr/>
          <p:nvPr/>
        </p:nvSpPr>
        <p:spPr>
          <a:xfrm>
            <a:off x="7242048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Refractory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242048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6.00 Cr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242048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42048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Panelling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242048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6"/>
          <p:cNvSpPr/>
          <p:nvPr/>
        </p:nvSpPr>
        <p:spPr>
          <a:xfrm>
            <a:off x="7242048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60-90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Wave 1 initiatives provide the first execution pathway from identified opportunity to realized savings.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initiative ledger: Boardroom &amp; Evidence Edition - Slide 24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Opportunity to Execution in 90 Days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Bags E-Auction &amp; Rate Harmonization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Mobilize joint procurement steering committee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Baseline validation &amp; supplier pre-qualification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Launch Packaging Bags master e-auction (Rs. 14.50 Cr)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Establish corporate rate cards for immediate quick wins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401568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01568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Engagement &amp; Tenders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01568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&amp; Fuel Benchmark Alignment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01568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dynamic tenders for grinding media (Rs. 11.20 Cr)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Align imported coal &amp; petcoke contracts to PCBI index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Launch secondary freight multi-plant corridor bidding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Commercial negotiations on top 100 consumable SKUs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71616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08776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&amp; Savings Realization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08776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Lubricants, Refractory &amp; Contract Signoff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08776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Award consolidated lubricants &amp; refractory master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Enforce contract compliance rules in ERP purchase orders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Reconcile realized P&amp;L EBITDA impact with finance teams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continuous tracking dashboard for ongoing leakage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TARGET: Rs. 47.90 Cr Validated Wave 1 Targeted for 90-Day Cash Realization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process savings from 824 POs remain unmonetized until customer time-motion / manpower baseline validation.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cost avoidance: Rs. 420 Cr spend de-risked across 4 dual-source programs is tracked separately and not monetized.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roadmap: Boardroom &amp; Evidence Edition - Slides 24-25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ADVISORY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 + aiCEV: Enterprise Partner Value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3852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EXPERTISE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 &amp; Category Depth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Decades of direct category leadership in heavy manufacturing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playbooks across fuel, power, logistics &amp; MRO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Senior practitioner negotiation support across pan-India suppliers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51176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1176" y="1051560"/>
            <a:ext cx="1938528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642616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SPEND INTELLIGENCE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42616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Transaction-Level Precision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42616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Granular transaction harmonization across 31,671 invoice lines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Multi-plant ex-works price dispersion detection on identical SKUs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Systematic exclusion and overlap deduplication governance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45152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1051560"/>
            <a:ext cx="193852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INTELLIGENCE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36592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Market Anchoring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36592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Proprietary PCBI indices for cement-specific commodities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Independent index-linked pricing formulas (coal, petcoke, polymer)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Market timing intelligence for contract renegotiation windows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739128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39128" y="1051560"/>
            <a:ext cx="193852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2" name="Text 19"/>
          <p:cNvSpPr/>
          <p:nvPr/>
        </p:nvSpPr>
        <p:spPr>
          <a:xfrm>
            <a:off x="6830568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SAVINGS REALIZATION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30568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P&amp;L Impact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30568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Dynamic e-auction platform and RFP commercial orchestration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Joint steering model driving plant-level operational adoption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Continuous savings ledger tracking realized cash flow impact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4472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to procurement decision to measurable execution.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procurement data is handled under configured tenant isolation, access controls, confidentiality and data-governance controls.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ALIGN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Priority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priority Wave 1 categories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priority categories and align key stakeholders on immediate commercial launch across packaging bags, grinding media, and fuel.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4408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MOBILIZE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01568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447288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Governance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01568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joint procurement working group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01568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joint central procurement and plant execution steering team to harmonize cross-plant specifications and vendor panels.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71616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208776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EXECUTE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08776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6254496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08776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approved competitive sourcing initiatives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08776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approved dynamic price discovery events and corporate rate card standardizations across vetted supplier panels.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ECFDF5"/>
          </a:solidFill>
          <a:ln w="19050">
            <a:solidFill>
              <a:srgbClr val="17A6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291840"/>
            <a:ext cx="73152" cy="7772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33649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 Direct Savings Opportunity  |  Rs. 93.60 Cr Net Defensible Pipeline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6027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diagnostic to execution.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" y="3858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Opportunity Brief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2026-10-03T03:51:20Z</dcterms:created>
  <dcterms:modified xsi:type="dcterms:W3CDTF">2026-10-03T03:51:20Z</dcterms:modified>
</cp:coreProperties>
</file>