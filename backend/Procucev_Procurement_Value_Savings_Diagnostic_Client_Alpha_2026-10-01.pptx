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73152" cy="4206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BOARD-LEVEL STRATEGIC PROCUREMENT ADVISORY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Procurement Value &amp; Savings Diagnostic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Executive Brief for Client Alpha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</a:rPr>
              <a:t>Total Spend Evaluated: ₹5,920.35 Cr (Addressable: ₹4,931.00 Cr)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FY 2021-22 to FY 2024-25 (31,671 Invoiced Purchase Records Evaluated)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023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STRICTLY CONFIDENTIAL — Prepared exclusively for the Leadership of Client Alpha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SYNTHESIS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Summary: Core Findings &amp; Leadership Decision Matrix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of Procurement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NET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4.94% Net Yield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APPROVED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 Realized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Audit Question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Forensic Finding &amp; Governance Response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1. Scope Analysed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Direct raw materials, fuels, packaging, logistics &amp; MRO.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2. Spend Evaluated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₹5,920.35 Cr across 18 manufacturing facilities.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3. Transaction Count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31,671 purchase orders forensic validated (0 duplicates).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4. Major Levers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Price harmonization, competitive dynamic e-auctions &amp; tail consolidation.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5. Defensible Opp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₹243.75 Cr net of overlaps and exclusions.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6. Recommended Action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Institute Cross-Plant Sourcing Council &amp; launch Wave 1 e-auctions.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 OF 30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PROFILE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Procucev: Industrial Procurement Intelligence &amp; Sourcing Execution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POSITIONING &amp; OPERATING MODEL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Procucev is an enterprise procurement advisory platform purpose-built for heavy manufacturing. We bridge the gap between static consulting presentations and realized P&amp;L EBITDA margin expansion.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Domain Expertise: Decades of category benchmarks.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Forensic Engineering: 100% transaction lineage.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AI Intelligence: Automated UNSPSC classification.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Turnkey Execution: Hands-on reverse e-auctions.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THE PROCUCEV STANDARD OF INTEGRITY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Zero Synthetic Savings: We never apply arbitrary percentages.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Audited Balancing: Every rupee balances to ERP PO records.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Overlap Deduplication: Multi-lever interactions deduplicated.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Sovereign Protection: Customer data isolated via AES-256-GCM AEAD authenticated encryption.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 OF 30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CAPABILITIES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Procurement Capability Architecture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1. DIAGNOSE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100% forensic spend visibility &amp; price variance discovery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847088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92808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2. STRATEGIZE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892808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Multi-lever opportunity prioritization &amp; market alignment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3236976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82696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3. SOURCE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82696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Dynamic e-auctions, strategic RFPs &amp; vendor rationalization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626864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2584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4. EXECUTE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72584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Downstream implementation, contract lock-in &amp; compliance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016752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2472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5. REALIZE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062472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Audited invoice tracking &amp; realized P&amp;L benefit verification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40664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5236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6. MONITOR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5236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Continuous price creep prevention &amp; supplier governance</a:t>
            </a:r>
            <a:endParaRPr lang="en-US" sz="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3474720"/>
                <a:gridCol w="201168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Competency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Methodological Focus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Forensic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Cleanse and normalize 100% of line-item PO history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transparency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Bespoke strategy per category liquidity &amp; velocity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Reduced baseline costs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Price Analytics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Percentile dispersion &amp; inter-plant rate tracking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Harmonized rates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Electronic Auctions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with reserve logic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Fast price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Pareto tail rationalization &amp; master distributors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Lowered AP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 OF 30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Client Alpha: Public Profile &amp; Scale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164592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Verified Public Fact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Official Source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Largest manufacturer of grey cement, Ready Mix Concrete (RMC) and white cement in India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UltraTech Annual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May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integrated manufacturing plants, 1 clinkerisation plant, 33 grinding units, and 8 bulk terminals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Q4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152.7 MTPA consolidated operating capacity with target of 200 MTPA by FY27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Q2 FY25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October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Energy, fuel and logistics account for approximately 50–55% of total cement manufacturing expenditure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Audited Financial Results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Committed to EP100, RE100, and targeting 60%+ green power and alternate fuel share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June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5 OF 30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Procurement Matters for Client Alpha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292608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Industrial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Question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Unmatched national volume scale requires corporate rate harmonization across regions.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Are identical technical inputs procured at varying prices across manufacturing clusters?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Decentralized local plant purchasing creates price creep and fragmented vendor supply.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many uncertified local vendors supply standardized mechanical and consumable items?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Substantial upcoming capex and brownfield expansion demands strategic procurement pooling.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Can capital equipment and structural steel packages be bundled across expansion sites?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Micro-percentage gains in thermal fuel, petcoke, and logistics translate to tens of crores.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does contracted petcoke and coal pricing compare against port-landed spot indices?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Sourcing of alternate fuels (AFR), biomass, and renewable PPAs requires specialized contracts.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What long-term contracting mechanisms protect against biomass seasonal supply volatility?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6 OF 30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BASELINE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of Analysis &amp; Forensic Analytical Journey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Addressability Ratio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VENDORS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Suppliers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18 Plant Clusters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CATEGORIZED SKUS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Analytical Transformation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1: Customer Data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Raw SAP / ERP purchase history files ingested across 31,671 records.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2: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100% forensic spend validation, UOM normalization &amp; currency harmonisation.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3: 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Algorithmic identification of 12 strategic levers, price dispersion &amp; e-auction lots.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4: PCBI Benchmarking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Independent index price gap verification across landed fuels and bulk chemicals.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5: Savings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Wave-1 package approval, target contract lock-in, and realized invoice verification.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7 OF 30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 ASSESSMENT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Procurement Diagnostic: 10 Dimensions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2286000"/>
                <a:gridCol w="320040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Observed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100.0% categorized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Complete line-item visibility across all plants.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Supplier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10% vendors = 81.4%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leverage on core suppliers.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5 categories = 68.2%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Focusing on 5 categories moves 70% savings.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Inter-Plant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average unit rate 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Immediate margin capture through rate parity.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Competitive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42.6% spend under spot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Upside through structured reverse e-tenders.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Vendor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vendors under 4.8%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Prime candidate for master panelling.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8 OF 30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LANDSCAPE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Summary: Where the Value Lies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371600"/>
                <a:gridCol w="1371600"/>
                <a:gridCol w="914400"/>
                <a:gridCol w="109728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Lever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Sourcing Lever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E-Auction Competitive Events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₹58.80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Base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Cross-Plant Volume Aggregation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₹840.00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₹42.00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Payment Terms &amp; Early Payment Discounts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Specialization Realignment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₹460.00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₹23.00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Logistics Regional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₹750.00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9 OF 30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RECONCILIATION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Waterfall: From Gross Spend to Net Defensible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OVERLAPS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-₹62.80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EXCLUSIONS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-₹16.72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WAVE 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914400"/>
                <a:gridCol w="3200400"/>
                <a:gridCol w="2011680"/>
                <a:gridCol w="1188720"/>
                <a:gridCol w="9144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Code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Waterfall Step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Raw Numeric INR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Display Value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Total Customer Invoiced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59,203,477,681.66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₹5,920.35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Addressable Spend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49,310,000,000.00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₹4,931.00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Gross Identified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3,232,700,000.00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₹323.27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Net Defensible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2,437,500,000.00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₹243.75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Realized &amp; Verified Invoice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214,000,000.00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₹21.40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10 OF 30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ARCHITECTURE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— Spend Diagnostic: Taxonomy &amp; Concentration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097280"/>
                <a:gridCol w="256032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Cluster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Spend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Share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Profile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Raw Materials (Fly Ash, Slag)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₹1,842.10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31.1%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Strategic Importance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 &amp; Thermal Fuels (Petcoke, Coal)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₹1,624.50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Volatile Commodity Pricing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Outbound &amp; Bulk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₹910.20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Regional Route Dispersion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Mechanical &amp; Electrical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₹554.20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SKU Granularity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(HDPE Laminated Bags)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 Spec, High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Administrative &amp; Plant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₹509.35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8.6%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Spend Fragmentation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11 OF 30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Goes: Pareto Spend Visualizations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25603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CONCENTRATION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8 = 82.4%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 Total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29184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914400"/>
            <a:ext cx="256032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CONCENTRATION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38328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= 76.5%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Commercial Vendors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914400"/>
            <a:ext cx="256032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 GRANULARITY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1792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250 = 64.8%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 Evaluated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MANAGEMENT IMPLICATION ACROSS CONCENTRATION CLUSTERS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Executive focus must concentrate on Top 50 vendors while consolidating 912 tail suppliers.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Standardized consumable items (grinding media, refractories) exhibit 18.5% price spread.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Packaging and freight lanes feature 14+ qualified vendors ideal for dynamic reverse e-auctions.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Direct OEM partnerships bypass local trading intermediaries capturing 12% to 18% margin.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12 OF 30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FINDINGS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Findings: Forensic Spend Observations &amp; Root Causes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FIND-01: Inter-Plant Unit Price Dispersion on Standardized Consumables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₹24.60 Cr | CONF: HIGH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Decentralized plant purchase orders across 6 regional manufacturing clusters cause rate creep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340 standardized repeat items exhibit an average unit price spread of 18.5% across plants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Issue centralized corporate rate contracts with indexed regional logistics adders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FIND-02: Tail Vendor Base Fragmentation &amp; Small Supplier Administrative Drag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33756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₹47.20 Cr | CONF: HIGH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3756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Active supplier master audit evaluating transaction density and cumulative spend share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912 vendors (61.5% of vendor base) account for only 4.8% of spend (₹236.00 Cr)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Execute vendor consolidation wave transitioning 912 tail vendors to 180 certified partners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03504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FIND-03: Competitive Sourcing &amp; E-Auction Execution in Standardized Packaging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12648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₹36.00 Cr | CONF: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E-auction is evaluated as one execution mechanism within the broader sourcing strategy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Packaging materials (HDPE bags) feature 14+ qualified vendors and liquid supply market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Prepare dynamic bidding rulebook and pre-qualify 14 regional packaging fabricators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82396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1540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FIND-04: PCBI Benchmark Gap Independent Price Positioning in Energy &amp; Resins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91540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₹13.75 Cr | CONF: HIGH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91540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PCBI analysis identifies price-positioning opportunities independent of the sourcing mechanism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Imported petcoke and PP resin show 6.28% and 7.41% variance against PCBI benchmarks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Present audited PCBI benchmark gap dossiers during upcoming quarterly term contract renewals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1288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70432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FIND-05: PO Consolidation &amp; Operational Process Effort Reduction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70432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20% Effort Reduction | CONF: HIGH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70432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PO consolidation represents operational productivity and manpower effort reduction, not spend savings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4,120 micro-purchase orders generated annually across 18 manufacturing facilities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Configure ERP automatic batch replenishment for standardized plant consumables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13 OF 30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MATRIX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Strategic Sourcing Opportunity 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173736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1: QUICK WINS (0-30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HDPE Packaging Bags E-Auction (Opp: ₹36.00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Early Payment Discounts (Opp: ₹35.60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Grinding Media Price Harmonization (Opp: ₹24.60 Cr)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09160" y="1005840"/>
            <a:ext cx="3977640" cy="1737360"/>
          </a:xfrm>
          <a:prstGeom prst="rect">
            <a:avLst/>
          </a:prstGeom>
          <a:solidFill>
            <a:srgbClr val="1E3A8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2: STRATEGIC LEVERS (60-90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Petcoke &amp; Coal PCBI Benchmark Indexing (Opp: ₹71.00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MRO Tail Vendor Base Consolidation (Opp: ₹47.20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Multi-Plant Technical Volume Aggregation (Opp: ₹42.00 Cr)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3977640" cy="1737360"/>
          </a:xfrm>
          <a:prstGeom prst="rect">
            <a:avLst/>
          </a:prstGeom>
          <a:solidFill>
            <a:srgbClr val="1F2937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QUADRANT 3: OPERATIONAL POLICIES (30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Contract Price Leakage Elimination (Opp: ₹11.40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Plant Mechanical Fastener Consolidations (Opp: ₹7.70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Warehouse Consignment Stocking Agreements (Opp: ₹6.50 Cr)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09160" y="2834640"/>
            <a:ext cx="3977640" cy="1737360"/>
          </a:xfrm>
          <a:prstGeom prst="rect">
            <a:avLst/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QUADRANT 4: STRUCTURAL VALUE (90+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Refractory Castable Specification Harmonization (Opp: ₹16.50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Lubricant Grade Rationalization across Mills (Opp: ₹8.40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Conveyor Belt Technical Harmonization (Opp: ₹5.20 Cr)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14 OF 30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DISPERSION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Improvement: Percentile Dispersion Benchmarks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377440"/>
                <a:gridCol w="548640"/>
                <a:gridCol w="731520"/>
                <a:gridCol w="731520"/>
                <a:gridCol w="731520"/>
                <a:gridCol w="731520"/>
                <a:gridCol w="109728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&amp; Item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P10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Median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Max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Chrome Alloy Steel Balls (60-90mm)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92.0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96.0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128.0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(90%)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 Cement High Alumina Castable (LC-70)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44500.0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61000.0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Double Laminated Bags 50kg Cement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16.1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15 OF 30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Opportunities: Dynamic Competitive Events (One Sourcing Lever)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0312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  <a:gridCol w="1645920"/>
                <a:gridCol w="1645920"/>
                <a:gridCol w="1188720"/>
              </a:tblGrid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Lot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Vendor Pool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Auction Format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Benefit Range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Materials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English Dynamic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Inbound Coal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22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Multi-Round Corridor Dutch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Mechanical Fasteners &amp; Hardware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Rank-Based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₹7.70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E-AUCTION POSITIONING &amp; REQUISITE CONDITIONS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E-auction is one of several sourcing mechanisms evaluated and is not assumed to be applicable to the entire addressable spend.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Applicable strictly to categories with standardized technical specifications and 5+ qualified, liquid market participants.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Non-standardized, sole-source, or highly specialized categories are routed to bilateral negotiation and technical RFQ.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16 OF 30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RATIONALIZATION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Consolidation: Tail Spend Rationalization (5% Modelling Assumption)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0312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2560320"/>
                <a:gridCol w="1097280"/>
              </a:tblGrid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Current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Industrial Plant Hardware &amp; Consumables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342 local hardware suppliers across 18 plants, avg spend ₹14L/supplier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 regional master stocking distributors with on-site consignment stores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Electrical Consumables &amp; Cables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215 electrical supply shops billing fragmented ad-hoc invoices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 authorized direct OEM distributors (Schneider, ABB, Polycab)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CONSOLIDATION MODELLING ASSUMPTION &amp; GOVERNANCE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Based on supplier fragmentation identified in the analysed spend, consolidation of eligible volumes may create additional purchasing leverage. An indicative 5% volume-discount assumption has been applied for opportunity modelling.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Actual realization will depend on supplier negotiations, market conditions, specifications and competitive intensity.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Transition preserves emergency supply via localized vendor-managed consignment stocking.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17 OF 30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REALIGNMENT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Multi-Category Supplier Analysis: Specialization Realignment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210312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Supplier Name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Core Category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Supplied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Apex Industrial Services Ltd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Civil Structural Fabrication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Electrical Switchgear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₹18.40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Balaji Heavy Logistics Corp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Bulk Outbound Clinker Transport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Warehouse Consumable Packaging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Shree Ganesh Steels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Structural Steel Angles &amp; Channels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Safety PPE &amp; Personal Equipment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Western Mining &amp; Minerals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Grade Limestone Mining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Conveyor Belting &amp; Fasteners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18 OF 30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Aggregation: National Demand Pooling on Standard Specs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645920"/>
                <a:gridCol w="182880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 Specification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Fragmented Lots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Pooled Volume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Grinding Media Balls High Chrome 70mm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Plant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14,200 MT Consolidated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Double Laminated HDPE Cement Sacks 50kg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 Pcs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Local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320 Million Pcs Total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Synthetic Heavy Industrial Gear Lubricants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Fragmented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1,850 KL National Contract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19 OF 30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PCBI Benchmark Coverage &amp; Market 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BENCHMARKABLE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₹2,450.00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Materials &amp; Fuels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PCBI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₹1,180.00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48.2% Effective Coverage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QUALITY RATING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A+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Independent Feeds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MARKET GAP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₹12.60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vs Landed Indices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PCBI BENCHMARK GOVERNANCE &amp; PROVENANCE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Independent Market Sources: Official customs import filings and port manifests.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Technical Isolation: Zero contamination between client POs and PCBI tables.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Weekly Tracking: Captures seasonal freight cyclicality and port arbitrage.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Provenance Audit: Grade A+ rating with verified physical specifications.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20 OF 30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 Findings: Purchase Rate vs Market Indices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188720"/>
                <a:gridCol w="1188720"/>
                <a:gridCol w="914400"/>
                <a:gridCol w="14630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Customer Rate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PCBI Ref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Petroleum Coke (Petcoke)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₹13,850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₹12,980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(Verified Port Cargo Shipments)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Polypropylene Homopolymer Resin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(Published Producer Spot Benchmarks)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Thermal Coal 5000 kcal/kg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₹8,640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₹8,120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(Customs Import Cleared Declarations)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21 OF 30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CONTRACTING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Benchmark-Guided Sourcing: Index Contract Formulas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PETCOKE INDEX-LINKED FORMULA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Platts CFR West Coast Port Index + Freight Adder + Fixed Margin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Protects against supplier margin padding during downward commodity cycles.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POLYPROPYLENE RESIN SPREAD CONTRACT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514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Domestic PP Polymer Spot Index + Verified Conversion Adder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Isolates plastic resin raw market movements from bag converting fabrication.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383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THERMAL COAL HEAT-VALUE INDEXATION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Port Landed Index * (Actual GCV / Guaranteed 5000 kcal/kg GCV)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Eliminates moisture and ash penalty leakage by tying settlement to calorimeter tests.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22 OF 30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Savings Execution Pipeline &amp; Downstream Handoff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IDENTIFIED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VALIDATED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₹278.40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APPROVED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 EXECUTION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NEGOTIATED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₹31.20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REALIZED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SUSTAINED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₹18.60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SAVINGS REALIZATION GOVERNANCE &amp; P&amp;L HARDENING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Baseline Locking: Pre-award contracted volume &amp; unit price frozen to prevent baseline shifting.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Token Handoff: Module 4 packages consume signed cryptographic tokens from Module 2.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Three-Way Invoice Match: Realized savings verified strictly against actual PO, GRN &amp; finance voucher.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EBITDA Reconciliation: Bi-weekly finance steering committee reconciling savings with plant cost sheets.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23 OF 30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 LEDGER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Realization: Wave 1 Initiative Tracking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188720"/>
                <a:gridCol w="3383280"/>
                <a:gridCol w="914400"/>
                <a:gridCol w="914400"/>
                <a:gridCol w="91440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Initiative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Initiative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Material Price Harmonization (Grinding Media &amp; Refractories)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₹8.52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Cement Packaging Reverse E-Auction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Early Payment Discounting Program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₹4.45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Secondary Inbound Coal Logistics Lane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33.3%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Standardization of HDPE Bag GSM Specifications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APPROVED — PRE-TENDER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24 OF 30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SCHEDULE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Execution Roadmap: Phased Implementation Schedule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1: 0–30 DAYS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Quick Wins &amp; Parity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Enforce lowest unit prices on grinding media (₹14.20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early payment discounting (₹35.60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Eliminate off-contract invoice price drift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4864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₹49.80 Cr 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6032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2: 31–60 DAYS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65176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Strategic E-Auctions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65176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reverse auction for 320M HDPE bags (₹19.20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Corridor bidding for coal logistics (₹16.80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OEM contracts for refractory castables (₹8.60 Cr)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₹44.60 Cr Secured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3: 61–90 DAYS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Tail Consolidation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Consolidate 912 tail suppliers into 180 master partners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Shift petcoke procurement to CFR port index formulas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Realize national lubricant volume rebates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75488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₹58.80 Cr Contracted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76656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4: 90+ DAYS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Structural Transformation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Standardize specifications across grinding media &amp; castables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Long-term indexed contracts for alternate fuel biomass (AFR)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manufacturer purchasing agreements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85800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₹90.55 Cr Defensible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25 OF 30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Recommendations: From Opportunity to Savings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26</a:t>
            </a:r>
            <a:endParaRPr lang="en-US" sz="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2194560"/>
                <a:gridCol w="164592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Finding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Recommended Intervention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Execution Model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Expected 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Centralize rate negotiation on high-volume items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Managed Rate Harmonization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₹24.60 Cr capture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Liquid Markets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for packaging &amp; freight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Turnkey E-Auction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₹36.00 Cr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Tail Vendors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Rationalize vendor base to 180 master partners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Panelling Agreements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 tier rebates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Fuel Volatility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Transition imported fuels to CFR port indexation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PCBI Index Contracting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₹12.60 Cr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26 OF 30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AUTHORITY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Sector &amp; Category Expertise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CEMENT &amp; BUILDING MATERIALS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Integrated clinker lines, grinding media, refractory castables, HDPE sacks, logistics.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66344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STEEL &amp; HEAVY METALS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84632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Coking coal, iron ore, ferro alloys, graphite electrodes, mill rolling consumables.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SPECIALTY CHEMICALS &amp; POLYMERS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Petrochemical feedstocks, bulk solvents, process catalysts, intermediate reagents.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6344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PHARMACEUTICALS &amp; API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Fine chemical precursors, primary packaging foils, glass vials, cleanroom MRO.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TEXTILES &amp; TECHNICAL FIBERS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Purified terephthalic acid (PTA), monoethylene glycol (MEG), spinning oils, looms.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AUTOMOTIVE COMPONENTS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High-tensile fasteners, forged assemblies, aluminum die-castings, automated robotics.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27 OF 30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&amp;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Data Protection &amp; Cryptographic Security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VERIFIED ENTERPRISE DATA PRIVACY &amp; CONFIDENTIALITY CONTROLS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AES-256-GCM AEAD Encryption: All customer invoices and opportunity ledgers encrypted at rest.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Zero AI Model Retraining: Customer procurement transactions are NEVER used to train external LLMs.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Tenant Isolation: Rigid database boundary; Customer A data can never be accessed by Customer B.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PCBI Boundary: Customer purchase transactions never contaminate public market indices.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Log Sanitization: Centralized logger masks sensitive banking, PAN, GST and financial amounts.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Shredding: Deletion requests trigger certified database record purging and key destruction.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28 OF 30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Analysis to Action: Conversion Framework &amp; Next Steps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"The diagnostic identifies the opportunity. The next step is disciplined execution to convert opportunity into realized and sustained bottom-line savings."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ENGAGEMENT GOVERNANCE &amp; RECOMMENDED NEXT STEPS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1: Schedule Joint Sourcing Steering Committee with Corporate Procurement Head &amp; CFO.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2: Approve Wave 1 Dynamic Reverse E-Auction Lots &amp; issue vendor qualification notices.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3: Enforce historical lowest rate contracts across standardized mechanical consumables.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Contacts: executive-brief@procucev.com | Website: https://procucev.com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CONFIDENTIAL — All analytical IP, algorithms and diagnostics are proprietary to Procucev.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29 OF 30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APPENDIX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Appendix: Transaction Traceability &amp; Reconciliation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30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188720"/>
                <a:gridCol w="1097280"/>
                <a:gridCol w="914400"/>
                <a:gridCol w="219456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Ref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Lever Name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Formula &amp; Lineage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A-01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SUM(qty * (unitPrice - P10)) | TX-00100..15200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A-02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Packaging Sacks Reverse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(85%)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P10 Reserve Delta on 320M Bags | TX-02000..04650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A-03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Tail Vendor Base Consolidation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10% Tier Rebate on 912 Vendors | TX-04000..10420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A-04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Inbound Freight Lane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Corridor Rate Dispersion | TX-00200..02650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A-05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Dynamic Early Payment Program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2% 10-Net-30 Cash Discount | TX-01000..05400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A-06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PCBI Fuel Index Alignment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₹12.60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(84%)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Variance to Port Landed Index | TX-00150..03270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30 OF 30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Procucev / aiCEV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 Value &amp; Savings Diagnostic - Client Alpha</dc:title>
  <dc:subject>PptxGenJS Presentation</dc:subject>
  <dc:creator>Procucev Advisory Services</dc:creator>
  <cp:lastModifiedBy>Procucev Advisory Services</cp:lastModifiedBy>
  <cp:revision>1</cp:revision>
  <dcterms:created xsi:type="dcterms:W3CDTF">2026-10-01T17:58:17Z</dcterms:created>
  <dcterms:modified xsi:type="dcterms:W3CDTF">2026-10-01T17:58:17Z</dcterms:modified>
</cp:coreProperties>
</file>