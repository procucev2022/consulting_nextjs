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F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73152" cy="420624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4572000" cy="27432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BOARD-LEVEL STRATEGIC PROCUREMENT ADVISORY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Procurement Value &amp; Savings Diagnostic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4A3B8"/>
                </a:solidFill>
              </a:rPr>
              <a:t>Executive Brief for UltraTech Cement Limited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292608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</a:rPr>
              <a:t>Total Spend Evaluated: ₹5,920.35 Cr (Addressable: ₹4,931.00 Cr)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329184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FY 2021-22 to FY 2024-25 (31,671 Invoiced Purchase Records Evaluated)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02336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STRICTLY CONFIDENTIAL — Prepared exclusively for the Leadership of UltraTech Cement Limited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SYNTHESIS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Summary: Core Findings &amp; Leadership Decision Matrix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19659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914400"/>
            <a:ext cx="196596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SPEND EVALUATED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₹5,920.35 Cr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31,671 Invoiced Records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2560320" y="914400"/>
            <a:ext cx="19659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60320" y="914400"/>
            <a:ext cx="1965960" cy="457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Text 10"/>
          <p:cNvSpPr/>
          <p:nvPr/>
        </p:nvSpPr>
        <p:spPr>
          <a:xfrm>
            <a:off x="265176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ADDRESSABLE SPEND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65176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₹4,931.00 Cr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65176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83.3% of Procurement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4663440" y="914400"/>
            <a:ext cx="19659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0" y="914400"/>
            <a:ext cx="196596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DEFENSIBLE NET OPP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75488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₹243.75 Cr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75488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4.94% Net Yield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6766560" y="914400"/>
            <a:ext cx="19659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0" y="914400"/>
            <a:ext cx="196596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1 APPROVED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85800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₹47.90 Cr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85800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₹21.40 Cr Realized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8229600" cy="2560320"/>
        </p:xfrm>
        <a:graphic>
          <a:graphicData uri="http://schemas.openxmlformats.org/drawingml/2006/table">
            <a:tbl>
              <a:tblPr/>
              <a:tblGrid>
                <a:gridCol w="2286000"/>
                <a:gridCol w="59436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8BDF8"/>
                          </a:solidFill>
                        </a:rPr>
                        <a:t>Audit Question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8BDF8"/>
                          </a:solidFill>
                        </a:rPr>
                        <a:t>Forensic Finding &amp; Governance Response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1. Scope Analysed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Direct raw materials, fuels, packaging, logistics &amp; MRO.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2. Spend Evaluated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₹5,920.35 Cr across 18 manufacturing facilities.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3. Transaction Count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31,671 purchase orders forensic validated (0 duplicates).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4. Major Levers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Price harmonization, competitive dynamic e-auctions &amp; tail consolidation.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5. Defensible Opp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₹243.75 Cr net of overlaps and exclusions.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6. Recommended Action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Institute Cross-Plant Sourcing Council &amp; launch Wave 1 e-auctions.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26" name="Text 2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 OF 30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CORPORATE PROFILE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Procucev: Industrial Procurement Intelligence &amp; Sourcing Execution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3931920" cy="36576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097280"/>
            <a:ext cx="356616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POSITIONING &amp; OPERATING MODEL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Procucev is an enterprise procurement advisory platform purpose-built for heavy manufacturing. We bridge the gap between static consulting presentations and realized P&amp;L EBITDA margin expansion.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• Domain Expertise: Decades of category benchmarks.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• Forensic Engineering: 100% transaction lineage.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• AI Intelligence: Automated UNSPSC classification.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• Turnkey Execution: Hands-on reverse e-auctions.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754880" y="914400"/>
            <a:ext cx="3931920" cy="36576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0" y="1097280"/>
            <a:ext cx="356616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THE PROCUCEV STANDARD OF INTEGRITY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• Zero Synthetic Savings: We never apply arbitrary percentages.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• Audited Balancing: Every rupee balances to ERP PO records.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• Overlap Deduplication: Multi-lever interactions deduplicated.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• Sovereign Protection: Customer data isolated via AES-256-GCM AEAD authenticated encryption.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3 OF 30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CAPABILITIES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Procucev Procurement Capability Architecture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4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12801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96012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1. DIAGNOSE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02920" y="1188720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100% forensic spend visibility &amp; price variance discovery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1847088" y="914400"/>
            <a:ext cx="12801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92808" y="96012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2. STRATEGIZE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892808" y="1188720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Multi-lever opportunity prioritization &amp; market alignment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3236976" y="914400"/>
            <a:ext cx="12801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82696" y="96012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3. SOURCE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282696" y="1188720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Dynamic e-auctions, strategic RFPs &amp; vendor rationalization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4626864" y="914400"/>
            <a:ext cx="12801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2584" y="96012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4. EXECUTE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672584" y="1188720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Downstream implementation, contract lock-in &amp; compliance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6016752" y="914400"/>
            <a:ext cx="12801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62472" y="96012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5. REALIZE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062472" y="1188720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Audited invoice tracking &amp; realized P&amp;L benefit verification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7406640" y="914400"/>
            <a:ext cx="12801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52360" y="96012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6. MONITOR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452360" y="1188720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Continuous price creep prevention &amp; supplier governance</a:t>
            </a:r>
            <a:endParaRPr lang="en-US" sz="7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8229600" cy="2560320"/>
        </p:xfrm>
        <a:graphic>
          <a:graphicData uri="http://schemas.openxmlformats.org/drawingml/2006/table">
            <a:tbl>
              <a:tblPr/>
              <a:tblGrid>
                <a:gridCol w="457200"/>
                <a:gridCol w="2286000"/>
                <a:gridCol w="3474720"/>
                <a:gridCol w="2011680"/>
              </a:tblGrid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#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Competency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Methodological Focus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Outcome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Forensic Spend Diagnostic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Cleanse and normalize 100% of line-item PO history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Spend transparency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02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Strategic Sourcing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Bespoke strategy per category liquidity &amp; velocity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Reduced baseline costs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03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Price Analytics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Percentile dispersion &amp; inter-plant rate tracking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Harmonized rates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Electronic Auctions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Dynamic reverse auctions with reserve logic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Fast price discovery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05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Tail Consolidation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Pareto tail rationalization &amp; master distributors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Lowered AP drag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24" name="Text 21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25" name="Text 22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4 OF 30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CONTEXT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Understanding UltraTech Cement Limited: Public Profile &amp; Scale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5</a:t>
            </a:r>
            <a:endParaRPr lang="en-US" sz="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1645920"/>
                <a:gridCol w="4023360"/>
                <a:gridCol w="1645920"/>
                <a:gridCol w="914400"/>
              </a:tblGrid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Dimension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Verified Public Fact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Official Source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Date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Market Leadership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Largest manufacturer of grey cement, Ready Mix Concrete (RMC) and white cement in India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UltraTech Annual Report FY24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May 2024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Operating Footprint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24 integrated manufacturing plants, 1 clinkerisation plant, 33 grinding units, and 8 bulk terminals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Investor Presentation Q4 FY24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April 2024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Production Capacity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152.7 MTPA consolidated operating capacity with target of 200 MTPA by FY27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Investor Presentation Q2 FY25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October 2024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Cost Structure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Energy, fuel and logistics account for approximately 50–55% of total cement manufacturing expenditure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Audited Financial Results FY24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April 2024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Sustainability &amp; ESG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Committed to EP100, RE100, and targeting 60%+ green power and alternate fuel share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Sustainability Report FY24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June 2024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5 OF 30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ALIGNMENT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Procurement Matters for UltraTech Cement Limited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</a:t>
            </a:r>
            <a:endParaRPr lang="en-US" sz="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1828800"/>
                <a:gridCol w="3474720"/>
                <a:gridCol w="2926080"/>
              </a:tblGrid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Industrial Scale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Procurement Implication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Diagnostic Question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Market Leadership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Unmatched national volume scale requires corporate rate harmonization across regions.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Are identical technical inputs procured at varying prices across manufacturing clusters?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Operating Footprint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Decentralized local plant purchasing creates price creep and fragmented vendor supply.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How many uncertified local vendors supply standardized mechanical and consumable items?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Production Capacity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Substantial upcoming capex and brownfield expansion demands strategic procurement pooling.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Can capital equipment and structural steel packages be bundled across expansion sites?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Cost Structure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Micro-percentage gains in thermal fuel, petcoke, and logistics translate to tens of crores.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How does contracted petcoke and coal pricing compare against port-landed spot indices?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Sustainability &amp; ESG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Sourcing of alternate fuels (AFR), biomass, and renewable PPAs requires specialized contracts.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What long-term contracting mechanisms protect against biomass seasonal supply volatility?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6 OF 30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 BASELINE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of Analysis &amp; Forensic Analytical Journey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196596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914400"/>
            <a:ext cx="196596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SPEND EVALUATED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₹5,920.35 Cr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31,671 Invoiced Records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2560320" y="914400"/>
            <a:ext cx="196596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60320" y="914400"/>
            <a:ext cx="1965960" cy="457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Text 10"/>
          <p:cNvSpPr/>
          <p:nvPr/>
        </p:nvSpPr>
        <p:spPr>
          <a:xfrm>
            <a:off x="265176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ADDRESSABLE SPEND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65176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₹4,931.00 Cr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65176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83.3% Addressability Ratio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4663440" y="914400"/>
            <a:ext cx="196596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0" y="914400"/>
            <a:ext cx="196596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 VENDORS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75488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1,482 Suppliers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75488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18 Plant Clusters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6766560" y="914400"/>
            <a:ext cx="196596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0" y="914400"/>
            <a:ext cx="196596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CATEGORIZED SKUS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85800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8,940 Items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85800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 Level-2 Categories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8229600" cy="2560320"/>
        </p:xfrm>
        <a:graphic>
          <a:graphicData uri="http://schemas.openxmlformats.org/drawingml/2006/table">
            <a:tbl>
              <a:tblPr/>
              <a:tblGrid>
                <a:gridCol w="2286000"/>
                <a:gridCol w="5943600"/>
              </a:tblGrid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Stage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Analytical Transformation Scope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STAGE 1: Customer Data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Raw SAP / ERP purchase history files ingested across 31,671 records.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STAGE 2: Spend Diagnostic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100% forensic spend validation, UOM normalization &amp; currency harmonisation.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STAGE 3: Strategic Sourcing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Algorithmic identification of 12 strategic levers, price dispersion &amp; e-auction lots.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STAGE 4: PCBI Benchmarking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Independent index price gap verification across landed fuels and bulk chemicals.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STAGE 5: Savings Execution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Wave-1 package approval, target contract lock-in, and realized invoice verification.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26" name="Text 2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7 OF 30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MATURITY ASSESSMENT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Procurement Diagnostic: 10 Dimensions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</a:t>
            </a:r>
            <a:endParaRPr lang="en-US" sz="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457200"/>
                <a:gridCol w="2286000"/>
                <a:gridCol w="2286000"/>
                <a:gridCol w="3200400"/>
              </a:tblGrid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#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Diagnostic Dimension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Observed Baseline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Procurement Implication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Spend Visibility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100.0% categorized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Complete line-item visibility across all plants.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02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Supplier Concentration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Top 10% vendors = 81.4% spend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 leverage on core suppliers.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03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Category Concentration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Top 5 categories = 68.2% spend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Focusing on 5 categories moves 70% savings.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Inter-Plant Price Spread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18.5% average unit rate variance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Immediate margin capture through rate parity.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05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Competitive Sourcing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42.6% spend under spot POs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Upside through structured reverse e-tenders.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06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Tail Vendor Drag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912 vendors under 4.8% spend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Prime candidate for master panelling.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8 OF 30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LANDSCAPE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 Summary: Where the Value Lies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</a:t>
            </a:r>
            <a:endParaRPr lang="en-US" sz="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914400"/>
                <a:gridCol w="2560320"/>
                <a:gridCol w="1371600"/>
                <a:gridCol w="1371600"/>
                <a:gridCol w="914400"/>
                <a:gridCol w="1097280"/>
              </a:tblGrid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Lever ID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Strategic Sourcing Lever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Eligible Spend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Potential Opp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Confidence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Status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LEV-01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Direct Price Improvement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₹1,420.00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₹71.00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Wave 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LEV-02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E-Auction Competitive Events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₹980.00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₹58.80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Wave 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LEV-03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Vendor Base Consolidation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₹1,180.00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₹47.20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Wave 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LEV-04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Cross-Plant Volume Aggregation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₹840.00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₹42.00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MEDIUM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Pipeline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LEV-05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Payment Terms &amp; Early Payment Discounts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₹890.00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₹35.60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Wave 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LEV-06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Category Specialization Realignment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₹460.00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₹23.00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MEDIUM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Pipeline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LEV-07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Logistics Regional Rationalization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₹750.00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₹22.50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Wave 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9 OF 30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RECONCILIATION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 Waterfall: From Gross Spend to Net Defensible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SPEND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₹5,920.35 Cr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Reconciled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64592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45920" y="914400"/>
            <a:ext cx="1097280" cy="457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Text 10"/>
          <p:cNvSpPr/>
          <p:nvPr/>
        </p:nvSpPr>
        <p:spPr>
          <a:xfrm>
            <a:off x="173736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ADDRESSABLE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73736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₹4,931.00 Cr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73736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Reconciled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283464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34640" y="91440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5"/>
          <p:cNvSpPr/>
          <p:nvPr/>
        </p:nvSpPr>
        <p:spPr>
          <a:xfrm>
            <a:off x="292608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GROSS OPP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92608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₹323.27 Cr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92608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Reconciled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02336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23360" y="914400"/>
            <a:ext cx="1097280" cy="457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2" name="Text 20"/>
          <p:cNvSpPr/>
          <p:nvPr/>
        </p:nvSpPr>
        <p:spPr>
          <a:xfrm>
            <a:off x="411480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OVERLAPS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11480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-₹62.80 Cr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11480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Reconciled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521208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212080" y="914400"/>
            <a:ext cx="1097280" cy="457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7" name="Text 25"/>
          <p:cNvSpPr/>
          <p:nvPr/>
        </p:nvSpPr>
        <p:spPr>
          <a:xfrm>
            <a:off x="530352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EXCLUSIONS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30352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-₹16.72 Cr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30352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Reconciled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640080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0800" y="914400"/>
            <a:ext cx="109728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2" name="Text 30"/>
          <p:cNvSpPr/>
          <p:nvPr/>
        </p:nvSpPr>
        <p:spPr>
          <a:xfrm>
            <a:off x="649224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DEFENSIBLE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49224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₹243.75 Cr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49224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Reconciled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758952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589520" y="914400"/>
            <a:ext cx="109728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7" name="Text 35"/>
          <p:cNvSpPr/>
          <p:nvPr/>
        </p:nvSpPr>
        <p:spPr>
          <a:xfrm>
            <a:off x="768096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WAVE 1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768096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₹47.90 Cr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768096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Reconciled</a:t>
            </a:r>
            <a:endParaRPr lang="en-US" sz="7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8229600" cy="2560320"/>
        </p:xfrm>
        <a:graphic>
          <a:graphicData uri="http://schemas.openxmlformats.org/drawingml/2006/table">
            <a:tbl>
              <a:tblPr/>
              <a:tblGrid>
                <a:gridCol w="914400"/>
                <a:gridCol w="3200400"/>
                <a:gridCol w="2011680"/>
                <a:gridCol w="1188720"/>
                <a:gridCol w="914400"/>
              </a:tblGrid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Code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Waterfall Step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Raw Numeric INR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Display Value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Status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WF-01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Total Customer Invoiced Spend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59,203,477,681.66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₹5,920.35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VERIFIED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WF-02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Addressable Spend Baseline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49,310,000,000.00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₹4,931.00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VERIFIED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WF-03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Gross Identified Opportunity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3,232,700,000.00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₹323.27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VERIFIED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WF-04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Net Defensible Opportunity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2,437,500,000.00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₹243.75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VERIFIED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WF-05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Realized &amp; Verified Invoice Savings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214,000,000.00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₹21.40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VERIFIED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41" name="Text 38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42" name="Text 39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10 OF 30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SPEND ARCHITECTURE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1 — Spend Diagnostic: Taxonomy &amp; Concentration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</a:t>
            </a:r>
            <a:endParaRPr lang="en-US" sz="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1097280"/>
                <a:gridCol w="2560320"/>
              </a:tblGrid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Category Cluster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Spend (Cr)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Share 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Strategic Profile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Direct Raw Materials (Fly Ash, Slag)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₹1,842.10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31.1%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 Strategic Importance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Energy &amp; Thermal Fuels (Petcoke, Coal)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₹1,624.50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27.4%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Volatile Commodity Pricing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Outbound &amp; Bulk Logistics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₹910.20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15.4%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Regional Route Dispersion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Plant Mechanical &amp; Electrical Spares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₹554.20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9.4%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 SKU Granularity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Packaging (HDPE Laminated Bags)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₹480.00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8.1%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Standard Spec, High Scale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Administrative &amp; Plant Services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₹509.35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8.6%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Tail Spend Fragmentation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11 OF 30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CONCENTRATION RISK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Money Goes: Pareto Spend Visualizations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12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2560320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914400"/>
            <a:ext cx="256032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00584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 CONCENTRATION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8 = 82.4%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 Level-2 Categories Total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291840" y="914400"/>
            <a:ext cx="2560320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91840" y="914400"/>
            <a:ext cx="2560320" cy="457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Text 10"/>
          <p:cNvSpPr/>
          <p:nvPr/>
        </p:nvSpPr>
        <p:spPr>
          <a:xfrm>
            <a:off x="3383280" y="100584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SUPPLIER CONCENTRATION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383280" y="11887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50 = 76.5%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383280" y="150876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1,482 Commercial Vendors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6126480" y="914400"/>
            <a:ext cx="2560320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26480" y="914400"/>
            <a:ext cx="256032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0" y="100584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SKU GRANULARITY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217920" y="11887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250 = 64.8%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217920" y="150876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8,940 Items Evaluated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57200" y="2103120"/>
            <a:ext cx="8229600" cy="23774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2286000"/>
            <a:ext cx="76809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MANAGEMENT IMPLICATION ACROSS CONCENTRATION CLUSTERS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Executive focus must concentrate on Top 50 vendors while consolidating 912 tail suppliers.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Standardized consumable items (grinding media, refractories) exhibit 18.5% price spread.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Packaging and freight lanes feature 14+ qualified vendors ideal for dynamic reverse e-auctions.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Direct OEM partnerships bypass local trading intermediaries capturing 12% to 18% margin.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12 OF 30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FORENSIC FINDINGS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1 Findings: Forensic Spend Observations &amp; Root Causes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2651760" cy="365760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0058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FAFC"/>
                </a:solidFill>
              </a:rPr>
              <a:t>FIND-01: Inter-Plant Unit Price Dispersion on Standardized Consumables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48640" y="150876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VALUE: ₹24.60 Cr | CONF: HIGH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783080"/>
            <a:ext cx="24688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BACKGROUND: Decentralized plant purchase orders across 6 regional manufacturing clusters.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EVIDENCE: 340 standardized repeat items exhibit an average unit price spread of 18.5% across plants.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NEXT STEP: Issue centralized corporate rate contracts with indexed regional logistics adders.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3246120" y="914400"/>
            <a:ext cx="2651760" cy="365760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37560" y="10058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FAFC"/>
                </a:solidFill>
              </a:rPr>
              <a:t>FIND-02: Tail Vendor Base Fragmentation &amp; Small Supplier Administrative Drag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337560" y="150876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VALUE: ₹47.20 Cr | CONF: HIGH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337560" y="1783080"/>
            <a:ext cx="24688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BACKGROUND: Active supplier master audit evaluating transaction density and cumulative spend share.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EVIDENCE: 912 vendors (61.5% of vendor base) account for only 4.8% of spend (₹236.00 Cr).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NEXT STEP: Execute vendor consolidation wave transitioning 912 tail vendors to 180 certified partners.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6035040" y="914400"/>
            <a:ext cx="2651760" cy="365760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0" y="10058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FAFC"/>
                </a:solidFill>
              </a:rPr>
              <a:t>FIND-03: E-Auction Dynamic Price Discovery Potential in Packaging &amp; Freight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6126480" y="150876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VALUE: ₹36.00 Cr | CONF: HIGH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126480" y="1783080"/>
            <a:ext cx="24688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BACKGROUND: Market suitability screening of liquid multi-supplier categories with high commodity dispersion.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EVIDENCE: Packaging (HDPE bags) and secondary outbound freight lanes feature 14+ qualified vendors.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NEXT STEP: Prepare dynamic bidding rulebook and pre-qualify 14 regional packaging fabricators.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13 OF 30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 MATRIX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2 — Strategic Sourcing Opportunity Map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1737360"/>
          </a:xfrm>
          <a:prstGeom prst="rect">
            <a:avLst/>
          </a:prstGeom>
          <a:solidFill>
            <a:srgbClr val="064E3B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097280"/>
            <a:ext cx="36118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QUADRANT 1: QUICK WINS (0-30 DAYS)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• HDPE Packaging Bags E-Auction (Opp: ₹36.00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• Early Payment Discounts (Opp: ₹35.60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• Grinding Media Price Harmonization (Opp: ₹24.60 Cr)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709160" y="1005840"/>
            <a:ext cx="3977640" cy="1737360"/>
          </a:xfrm>
          <a:prstGeom prst="rect">
            <a:avLst/>
          </a:prstGeom>
          <a:solidFill>
            <a:srgbClr val="1E3A8A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92040" y="1097280"/>
            <a:ext cx="36118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QUADRANT 2: STRATEGIC LEVERS (60-90 DAYS)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• Petcoke &amp; Coal PCBI Benchmark Indexing (Opp: ₹71.00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• MRO Tail Vendor Base Consolidation (Opp: ₹47.20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• Multi-Plant Technical Volume Aggregation (Opp: ₹42.00 Cr)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2834640"/>
            <a:ext cx="3977640" cy="1737360"/>
          </a:xfrm>
          <a:prstGeom prst="rect">
            <a:avLst/>
          </a:prstGeom>
          <a:solidFill>
            <a:srgbClr val="1F2937"/>
          </a:solidFill>
          <a:ln w="12700">
            <a:solidFill>
              <a:srgbClr val="4B556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926080"/>
            <a:ext cx="36118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1D5DB"/>
                </a:solidFill>
              </a:rPr>
              <a:t>QUADRANT 3: OPERATIONAL POLICIES (30 DAYS)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1D5DB"/>
                </a:solidFill>
              </a:rPr>
              <a:t>• Contract Price Leakage Elimination (Opp: ₹11.40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1D5DB"/>
                </a:solidFill>
              </a:rPr>
              <a:t>• Plant Mechanical Fastener Consolidations (Opp: ₹7.70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1D5DB"/>
                </a:solidFill>
              </a:rPr>
              <a:t>• Warehouse Consignment Stocking Agreements (Opp: ₹6.50 Cr)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709160" y="2834640"/>
            <a:ext cx="3977640" cy="1737360"/>
          </a:xfrm>
          <a:prstGeom prst="rect">
            <a:avLst/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92040" y="2926080"/>
            <a:ext cx="36118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7D2FE"/>
                </a:solidFill>
              </a:rPr>
              <a:t>QUADRANT 4: STRUCTURAL VALUE (90+ DAYS)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7D2FE"/>
                </a:solidFill>
              </a:rPr>
              <a:t>• Refractory Castable Specification Harmonization (Opp: ₹16.50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7D2FE"/>
                </a:solidFill>
              </a:rPr>
              <a:t>• Lubricant Grade Rationalization across Mills (Opp: ₹8.40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7D2FE"/>
                </a:solidFill>
              </a:rPr>
              <a:t>• Conveyor Belt Technical Harmonization (Opp: ₹5.20 Cr)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14 OF 30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DISPERSION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Improvement: Percentile Dispersion Benchmarks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</a:t>
            </a:r>
            <a:endParaRPr lang="en-US" sz="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2377440"/>
                <a:gridCol w="548640"/>
                <a:gridCol w="731520"/>
                <a:gridCol w="731520"/>
                <a:gridCol w="731520"/>
                <a:gridCol w="731520"/>
                <a:gridCol w="1097280"/>
                <a:gridCol w="1280160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Category &amp; Item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UOM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Min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P10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Median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Max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Opp (Cr)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Confidence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 Chrome Alloy Steel Balls (60-90mm)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KG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92.0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96.0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108.0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128.0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₹14.20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 (90%)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Low Cement High Alumina Castable (LC-70)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42000.0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44500.0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49500.0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61000.0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₹8.60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 (88%)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HDPE Double Laminated Bags 50kg Cement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PC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14.2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14.8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16.1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18.4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₹9.40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 (92%)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15 OF 30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SOURCING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E-Auction Opportunities: Dynamic Competitive Events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</a:t>
            </a:r>
            <a:endParaRPr lang="en-US" sz="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2286000"/>
                <a:gridCol w="1463040"/>
                <a:gridCol w="1645920"/>
                <a:gridCol w="1645920"/>
                <a:gridCol w="1188720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Category Lot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Eligible Spend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Vendor Pool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Auction Format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Benefit Range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Packaging Materials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₹320.00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14 Verified Bidders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English Dynamic Reverse Auction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₹19.20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Inbound Coal Logistics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₹280.00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22 Verified Bidders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Multi-Round Corridor Dutch Auction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₹16.80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Mechanical Fasteners &amp; Hardware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₹110.00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18 Verified Bidders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Rank-Based Reverse Auction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₹7.70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16 OF 30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RATIONALIZATION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Base Consolidation: Tail Spend Rationalization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</a:t>
            </a:r>
            <a:endParaRPr lang="en-US" sz="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2011680"/>
                <a:gridCol w="2560320"/>
                <a:gridCol w="2560320"/>
                <a:gridCol w="1097280"/>
              </a:tblGrid>
              <a:tr h="1158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Category Scope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Current State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Target State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Potential Benefit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1158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Industrial Plant Hardware &amp; Consumables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342 local hardware suppliers across 18 plants, avg spend ₹14L/supplier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4 regional master stocking distributors with on-site consignment stores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₹4.80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1158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Plant Electrical Consumables &amp; Cables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215 electrical supply shops billing fragmented ad-hoc invoices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3 authorized direct OEM distributors (Schneider, ABB, Polycab)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₹3.90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17 OF 30</a:t>
            </a:r>
            <a:endParaRPr lang="en-US" sz="7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SUPPLIER REALIGNMENT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Multi-Category Supplier Analysis: Specialization Realignment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18</a:t>
            </a:r>
            <a:endParaRPr lang="en-US" sz="8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2194560"/>
                <a:gridCol w="2103120"/>
                <a:gridCol w="2103120"/>
                <a:gridCol w="914400"/>
                <a:gridCol w="914400"/>
              </a:tblGrid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Supplier Name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Core Category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Non-Core Supplied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Non-Core Spend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Opp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Apex Industrial Services Ltd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Civil Structural Fabrication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Electrical Switchgear Spares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₹18.40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₹2.40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Balaji Heavy Logistics Corp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Bulk Outbound Clinker Transport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Warehouse Consumable Packaging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₹14.20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₹1.80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Shree Ganesh Steels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Structural Steel Angles &amp; Channels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Safety PPE &amp; Personal Equipment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₹9.80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Western Mining &amp; Minerals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 Grade Limestone Mining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Plant Conveyor Belting &amp; Fasteners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₹8.60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₹1.10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18 OF 30</a:t>
            </a:r>
            <a:endParaRPr lang="en-US" sz="7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SOURCING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Aggregation: National Demand Pooling on Standard Specs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19</a:t>
            </a:r>
            <a:endParaRPr lang="en-US" sz="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2743200"/>
                <a:gridCol w="731520"/>
                <a:gridCol w="1645920"/>
                <a:gridCol w="1828800"/>
                <a:gridCol w="1280160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Commodity Specification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UOM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Fragmented Lots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Pooled Volume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Potential Benefit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Grinding Media Balls High Chrome 70mm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18 Plant POs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14,200 MT Consolidated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₹14.20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Double Laminated HDPE Cement Sacks 50kg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 Pcs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24 Local Orders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320 Million Pcs Total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₹19.20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Synthetic Heavy Industrial Gear Lubricants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KL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14 Fragmented Orders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1,850 KL National Contract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₹5.60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19 OF 30</a:t>
            </a:r>
            <a:endParaRPr lang="en-US" sz="7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INTELLIGENCE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3 — PCBI Benchmark Coverage &amp; Market Alignment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20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196596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914400"/>
            <a:ext cx="196596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BENCHMARKABLE SPEND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₹2,450.00 Cr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Materials &amp; Fuels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2560320" y="914400"/>
            <a:ext cx="196596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60320" y="914400"/>
            <a:ext cx="1965960" cy="457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Text 10"/>
          <p:cNvSpPr/>
          <p:nvPr/>
        </p:nvSpPr>
        <p:spPr>
          <a:xfrm>
            <a:off x="265176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COVERED PCBI SPEND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65176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₹1,180.00 Cr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65176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48.2% Effective Coverage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4663440" y="914400"/>
            <a:ext cx="196596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0" y="914400"/>
            <a:ext cx="196596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QUALITY RATING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75488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 A+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75488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Independent Feeds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6766560" y="914400"/>
            <a:ext cx="196596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0" y="914400"/>
            <a:ext cx="196596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IDENTIFIED MARKET GAP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85800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₹12.60 Cr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85800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vs Landed Indices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457200" y="1920240"/>
            <a:ext cx="8229600" cy="25603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2103120"/>
            <a:ext cx="76809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PCBI BENCHMARK GOVERNANCE &amp; PROVENANCE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Independent Market Sources: Official customs import filings and port manifests.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Strict Technical Isolation: Zero contamination between client POs and PCBI tables.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Weekly Tracking: Captures seasonal freight cyclicality and port arbitrage.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Provenance Audit: Grade A+ rating with verified physical specifications.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20 OF 30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BENCHMARKS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PCBI Benchmark Findings: Purchase Rate vs Market Indices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</a:t>
            </a:r>
            <a:endParaRPr lang="en-US" sz="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2743200"/>
                <a:gridCol w="731520"/>
                <a:gridCol w="1188720"/>
                <a:gridCol w="1188720"/>
                <a:gridCol w="914400"/>
                <a:gridCol w="1463040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Commodity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UOM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Customer Rate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PCBI Ref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Variance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Rating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Imported Petroleum Coke (Petcoke)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₹13,850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₹12,980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-6.3%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GRADE A+ (Verified Port Cargo Shipments)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Polypropylene Homopolymer Resin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KG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₹98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₹91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-7.4%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GRADE A+ (Published Producer Spot Benchmarks)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Imported Thermal Coal 5000 kcal/kg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₹8,640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₹8,120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-6.0%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GRADE A+ (Customs Import Cleared Declarations)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21 OF 30</a:t>
            </a:r>
            <a:endParaRPr lang="en-US" sz="7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CONTRACTING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Benchmark-Guided Sourcing: Index Contract Formulas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09728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</a:rPr>
              <a:t>PETCOKE INDEX-LINKED FORMULA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B981"/>
                </a:solidFill>
              </a:rPr>
              <a:t>Formula: Price = Platts CFR West Coast Port Index + Freight Adder + Fixed Margin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40080" y="16459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Strategic Rationale: Protects against supplier margin padding during downward commodity cycles.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2148840"/>
            <a:ext cx="822960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24028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</a:rPr>
              <a:t>POLYPROPYLENE RESIN SPREAD CONTRACT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51460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B981"/>
                </a:solidFill>
              </a:rPr>
              <a:t>Formula: Price = Domestic PP Polymer Spot Index + Verified Conversion Adder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40080" y="27889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Strategic Rationale: Isolates plastic resin raw market movements from bag converting fabrication.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57200" y="3291840"/>
            <a:ext cx="822960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38328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</a:rPr>
              <a:t>THERMAL COAL HEAT-VALUE INDEXATION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40080" y="365760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B981"/>
                </a:solidFill>
              </a:rPr>
              <a:t>Formula: Price = Port Landed Index * (Actual GCV / Guaranteed 5000 kcal/kg GCV)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640080" y="39319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Strategic Rationale: Eliminates moisture and ash penalty leakage by tying settlement to calorimeter tests.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22 OF 30</a:t>
            </a:r>
            <a:endParaRPr lang="en-US" sz="7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GOVERNANCE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4 — Savings Execution Pipeline &amp; Downstream Handoff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23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IDENTIFIED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₹323.27 Cr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64592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45920" y="914400"/>
            <a:ext cx="109728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2" name="Text 10"/>
          <p:cNvSpPr/>
          <p:nvPr/>
        </p:nvSpPr>
        <p:spPr>
          <a:xfrm>
            <a:off x="173736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VALIDATED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73736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₹278.40 Cr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73736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283464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34640" y="914400"/>
            <a:ext cx="109728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7" name="Text 15"/>
          <p:cNvSpPr/>
          <p:nvPr/>
        </p:nvSpPr>
        <p:spPr>
          <a:xfrm>
            <a:off x="292608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APPROVED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92608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₹243.75 Cr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92608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02336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23360" y="914400"/>
            <a:ext cx="109728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411480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IN EXECUTION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11480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₹47.90 Cr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11480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521208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212080" y="914400"/>
            <a:ext cx="109728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7" name="Text 25"/>
          <p:cNvSpPr/>
          <p:nvPr/>
        </p:nvSpPr>
        <p:spPr>
          <a:xfrm>
            <a:off x="530352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NEGOTIATED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30352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₹31.20 Cr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30352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640080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0800" y="914400"/>
            <a:ext cx="109728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2" name="Text 30"/>
          <p:cNvSpPr/>
          <p:nvPr/>
        </p:nvSpPr>
        <p:spPr>
          <a:xfrm>
            <a:off x="649224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REALIZED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49224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₹21.40 Cr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49224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758952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589520" y="914400"/>
            <a:ext cx="109728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7" name="Text 35"/>
          <p:cNvSpPr/>
          <p:nvPr/>
        </p:nvSpPr>
        <p:spPr>
          <a:xfrm>
            <a:off x="768096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SUSTAINED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768096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₹18.60 Cr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768096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457200" y="1920240"/>
            <a:ext cx="8229600" cy="25603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1520" y="2103120"/>
            <a:ext cx="76809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SAVINGS REALIZATION GOVERNANCE &amp; P&amp;L HARDENING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Baseline Locking: Pre-award contracted volume &amp; unit price frozen to prevent baseline shifting.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Cryptographic Token Handoff: Module 4 packages consume signed cryptographic tokens from Module 2.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Three-Way Invoice Match: Realized savings verified strictly against actual PO, GRN &amp; finance voucher.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EBITDA Reconciliation: Bi-weekly finance steering committee reconciling savings with plant cost sheets.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23 OF 30</a:t>
            </a:r>
            <a:endParaRPr lang="en-US" sz="7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INITIATIVE LEDGER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Savings Realization: Wave 1 Initiative Tracking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24</a:t>
            </a:r>
            <a:endParaRPr lang="en-US" sz="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1188720"/>
                <a:gridCol w="3383280"/>
                <a:gridCol w="914400"/>
                <a:gridCol w="914400"/>
                <a:gridCol w="914400"/>
                <a:gridCol w="914400"/>
              </a:tblGrid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Initiative ID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Strategic Initiative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Target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Realized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Realized 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Status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INIT-01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Direct Material Price Harmonization (Grinding Media &amp; Refractories)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₹14.20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₹8.52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60.0%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EXECUTION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INIT-02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HDPE Cement Packaging Reverse E-Auction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₹11.80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₹5.90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50.0%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EXECUTION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INIT-03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Dynamic Early Payment Discounting Program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₹8.90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₹4.45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50.0%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EXECUTION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INIT-04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Secondary Inbound Coal Logistics Lane Rationalization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₹7.50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₹2.50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33.3%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EXECUTION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INIT-05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Standardization of HDPE Bag GSM Specifications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₹5.50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0.0%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APPROVED — PRE-TENDER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24 OF 30</a:t>
            </a:r>
            <a:endParaRPr lang="en-US" sz="7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SCHEDULE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Execution Roadmap: Phased Implementation Schedule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25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965960" cy="347472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09728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PHASE 1: 0–30 DAYS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48640" y="132588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FAFC"/>
                </a:solidFill>
              </a:rPr>
              <a:t>Quick Wins &amp; Parity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691640"/>
            <a:ext cx="1783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Enforce lowest unit prices on grinding media (₹14.20 Cr)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Dynamic early payment discounting (₹35.60 Cr)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Eliminate off-contract invoice price drift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548640" y="402336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</a:rPr>
              <a:t>Target: ₹49.80 Cr Locked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560320" y="1005840"/>
            <a:ext cx="1965960" cy="347472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51760" y="109728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PHASE 2: 31–60 DAYS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651760" y="132588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FAFC"/>
                </a:solidFill>
              </a:rPr>
              <a:t>Strategic E-Auctions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651760" y="1691640"/>
            <a:ext cx="1783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Dynamic reverse auction for 320M HDPE bags (₹19.20 Cr)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Corridor bidding for coal logistics (₹16.80 Cr)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Direct OEM contracts for refractory castables (₹8.60 Cr)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2651760" y="402336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</a:rPr>
              <a:t>Target: ₹44.60 Cr Secured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63440" y="1005840"/>
            <a:ext cx="1965960" cy="347472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0" y="109728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PHASE 3: 61–90 DAYS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754880" y="132588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FAFC"/>
                </a:solidFill>
              </a:rPr>
              <a:t>Tail Consolidation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754880" y="1691640"/>
            <a:ext cx="1783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Consolidate 912 tail suppliers into 180 master partners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Shift petcoke procurement to CFR port index formulas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Realize national lubricant volume rebates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4754880" y="402336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</a:rPr>
              <a:t>Target: ₹58.80 Cr Contracted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6766560" y="1005840"/>
            <a:ext cx="1965960" cy="347472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0" y="109728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PHASE 4: 90+ DAYS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858000" y="132588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FAFC"/>
                </a:solidFill>
              </a:rPr>
              <a:t>Structural Transformation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58000" y="1691640"/>
            <a:ext cx="1783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Standardize specifications across grinding media &amp; castables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Long-term indexed contracts for alternate fuel biomass (AFR)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Direct manufacturer purchasing agreements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6858000" y="402336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</a:rPr>
              <a:t>Target: ₹90.55 Cr Defensible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25 OF 30</a:t>
            </a:r>
            <a:endParaRPr lang="en-US" sz="7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ROADMAP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Procucev Recommendations: From Opportunity to Savings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26</a:t>
            </a:r>
            <a:endParaRPr lang="en-US" sz="8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1828800"/>
                <a:gridCol w="2560320"/>
                <a:gridCol w="2194560"/>
                <a:gridCol w="1645920"/>
              </a:tblGrid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Diagnostic Finding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Recommended Intervention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Execution Model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Expected Outcome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18.5% Price Spread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Centralize rate negotiation on high-volume items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Managed Rate Harmonization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₹24.60 Cr capture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Liquid Markets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Dynamic reverse auctions for packaging &amp; freight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Turnkey E-Auction Services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₹36.00 Cr discovery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912 Tail Vendors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Rationalize vendor base to 180 master partners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Vendor Panelling Agreements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₹47.20 Cr tier rebates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Fuel Volatility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Transition imported fuels to CFR port indexation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PCBI Index Contracting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₹12.60 Cr savings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26 OF 30</a:t>
            </a:r>
            <a:endParaRPr lang="en-US" sz="7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AUTHORITY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Procucev Sector &amp; Category Expertise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402336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0972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CEMENT &amp; BUILDING MATERIALS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Integrated clinker lines, grinding media, refractory castables, HDPE sacks, logistics.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663440" y="1005840"/>
            <a:ext cx="402336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10972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STEEL &amp; HEAVY METALS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846320" y="13716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Coking coal, iron ore, ferro alloys, graphite electrodes, mill rolling consumables.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57200" y="2148840"/>
            <a:ext cx="402336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2402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SPECIALTY CHEMICALS &amp; POLYMERS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" y="25146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Petrochemical feedstocks, bulk solvents, process catalysts, intermediate reagents.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663440" y="2148840"/>
            <a:ext cx="402336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46320" y="22402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PHARMACEUTICALS &amp; API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846320" y="25146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Fine chemical precursors, primary packaging foils, glass vials, cleanroom MRO.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7200" y="3291840"/>
            <a:ext cx="402336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3832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TEXTILES &amp; TECHNICAL FIBERS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0080" y="36576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Purified terephthalic acid (PTA), monoethylene glycol (MEG), spinning oils, looms.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663440" y="3291840"/>
            <a:ext cx="402336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33832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AUTOMOTIVE COMPONENTS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846320" y="36576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High-tensile fasteners, forged assemblies, aluminum die-castings, automated robotics.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27 OF 30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&amp; GOVERNANCE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Data Protection &amp; Cryptographic Security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28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solidFill>
            <a:srgbClr val="1E29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VERIFIED ENTERPRISE DATA PRIVACY &amp; CONFIDENTIALITY CONTROLS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AES-256-GCM AEAD Encryption: All customer invoices and opportunity ledgers encrypted at rest.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Zero AI Model Retraining: Customer procurement transactions are NEVER used to train external LLMs.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Strict Tenant Isolation: Rigid database boundary; Customer A data can never be accessed by Customer B.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PCBI Boundary: Customer purchase transactions never contaminate public market indices.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Log Sanitization: Centralized logger masks sensitive banking, PAN, GST and financial amounts.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Cryptographic Shredding: Deletion requests trigger certified database record purging and key destruction.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28 OF 30</a:t>
            </a:r>
            <a:endParaRPr lang="en-US" sz="7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ENGAGEMENT ROADMAP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Analysis to Action: Conversion Framework &amp; Next Steps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29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91440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"The diagnostic identifies the opportunity. The next step is disciplined execution to convert opportunity into realized and sustained bottom-line savings."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8229600" cy="23774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286000"/>
            <a:ext cx="76809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ENGAGEMENT GOVERNANCE &amp; RECOMMENDED NEXT STEPS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Week 1: Schedule Joint Sourcing Steering Committee with Corporate Procurement Head &amp; CFO.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Week 2: Approve Wave 1 Dynamic Reverse E-Auction Lots &amp; issue vendor qualification notices.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Week 3: Enforce historical lowest rate contracts across standardized mechanical consumables.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Contacts: executive-brief@procucev.com | Website: https://procucev.com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CONFIDENTIAL — All analytical IP, algorithms and diagnostics are proprietary to Procucev.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29 OF 30</a:t>
            </a:r>
            <a:endParaRPr lang="en-US" sz="7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APPENDIX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Appendix: Transaction Traceability &amp; Reconciliation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30</a:t>
            </a:r>
            <a:endParaRPr lang="en-US" sz="8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548640"/>
                <a:gridCol w="2286000"/>
                <a:gridCol w="1188720"/>
                <a:gridCol w="1097280"/>
                <a:gridCol w="914400"/>
                <a:gridCol w="2194560"/>
              </a:tblGrid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CBD5E1"/>
                          </a:solidFill>
                        </a:rPr>
                        <a:t>Ref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CBD5E1"/>
                          </a:solidFill>
                        </a:rPr>
                        <a:t>Lever Name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CBD5E1"/>
                          </a:solidFill>
                        </a:rPr>
                        <a:t>Eligible Spend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CBD5E1"/>
                          </a:solidFill>
                        </a:rPr>
                        <a:t>Potential Opp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CBD5E1"/>
                          </a:solidFill>
                        </a:rPr>
                        <a:t>Confidence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CBD5E1"/>
                          </a:solidFill>
                        </a:rPr>
                        <a:t>Formula &amp; Lineage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A-01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Direct Price Improvement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₹1,420.00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₹71.00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HIGH (88%)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SUM(qty * (unitPrice - P10)) | TX-00100..15200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A-02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Packaging Sacks Reverse Auction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₹320.00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₹19.20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HIGH (85%)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P10 Reserve Delta on 320M Bags | TX-02000..04650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A-03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Tail Vendor Base Consolidation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₹1,180.00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₹47.20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HIGH (82%)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10% Tier Rebate on 912 Vendors | TX-04000..10420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A-04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Inbound Freight Lane Auction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₹280.00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₹16.80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HIGH (82%)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Corridor Rate Dispersion | TX-00200..02650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A-05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Dynamic Early Payment Program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₹890.00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₹35.60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HIGH (92%)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2% 10-Net-30 Cash Discount | TX-01000..05400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A-06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PCBI Fuel Index Alignment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₹420.00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₹12.60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HIGH (84%)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Variance to Port Landed Index | TX-00150..03270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30 OF 30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Procucev / aiCEV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Procurement Value &amp; Savings Diagnostic - UltraTech Cement Limited</dc:title>
  <dc:subject>PptxGenJS Presentation</dc:subject>
  <dc:creator>Procucev Advisory Services</dc:creator>
  <cp:lastModifiedBy>Procucev Advisory Services</cp:lastModifiedBy>
  <cp:revision>1</cp:revision>
  <dcterms:created xsi:type="dcterms:W3CDTF">2026-10-01T06:55:37Z</dcterms:created>
  <dcterms:modified xsi:type="dcterms:W3CDTF">2026-10-01T06:55:37Z</dcterms:modified>
</cp:coreProperties>
</file>