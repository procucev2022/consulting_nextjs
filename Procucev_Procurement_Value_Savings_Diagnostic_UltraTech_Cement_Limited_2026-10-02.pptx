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F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57200"/>
            <a:ext cx="73152" cy="420624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731520"/>
            <a:ext cx="4572000" cy="27432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BOARD-LEVEL STRATEGIC PROCUREMENT ADVISORY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731520" y="128016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8FAFC"/>
                </a:solidFill>
              </a:rPr>
              <a:t>Procurement Value &amp; Savings Diagnostic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182880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4A3B8"/>
                </a:solidFill>
              </a:rPr>
              <a:t>Executive Brief for UltraTech Cement Limited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29260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</a:rPr>
              <a:t>Total Spend Evaluated: ₹5,920.35 Cr (Addressable: ₹4,931.00 Cr)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31520" y="32918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</a:rPr>
              <a:t>FY 2021-22 to FY 2024-25 (31,671 Invoiced Purchase Records Evaluated)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31520" y="402336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</a:rPr>
              <a:t>STRICTLY CONFIDENTIAL — Prepared exclusively for the Leadership of UltraTech Cement Limited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SYNTHESIS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Summary: Core Findings &amp; Leadership Decision Matrix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of Procurement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DEFENSIBLE NET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4.94% Net Yield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WAVE 1 APPROVED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 Realized</a:t>
            </a:r>
            <a:endParaRPr lang="en-US" sz="7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Audit Question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8BDF8"/>
                          </a:solidFill>
                        </a:rPr>
                        <a:t>Forensic Finding &amp; Governance Response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1. Scope Analysed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Direct raw materials, fuels, packaging, logistics &amp; MRO.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2. Spend Evaluated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₹5,920.35 Cr across 18 manufacturing facilities.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3. Transaction Count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31,671 purchase orders forensic validated (0 duplicates).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4. Major Levers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Price harmonization, competitive dynamic e-auctions &amp; tail consolidation.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5. Defensible Opp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₹243.75 Cr net of overlaps and exclusions.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6. Recommended Action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CBD5E1"/>
                          </a:solidFill>
                        </a:rPr>
                        <a:t>Institute Cross-Plant Sourcing Council &amp; launch Wave 1 e-auctions.</a:t>
                      </a:r>
                      <a:endParaRPr lang="en-US" sz="9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 OF 30</a:t>
            </a:r>
            <a:endParaRPr lang="en-US" sz="7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CORPORATE PROFILE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About Procucev: Industrial Procurement Intelligence &amp; Sourcing Execution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POSITIONING &amp; OPERATING MODEL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Procucev is an enterprise procurement advisory platform purpose-built for heavy manufacturing. We bridge the gap between static consulting presentations and realized P&amp;L EBITDA margin expansion.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Domain Expertise: Decades of category benchmarks.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Forensic Engineering: 100% transaction lineage.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AI Intelligence: Automated UNSPSC classification.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Turnkey Execution: Hands-on reverse e-auctions.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4754880" y="914400"/>
            <a:ext cx="393192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37760" y="1097280"/>
            <a:ext cx="356616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THE PROCUCEV STANDARD OF INTEGRITY</a:t>
            </a:r>
            <a:endParaRPr lang="en-US" sz="900" dirty="0"/>
          </a:p>
          <a:p>
            <a:pPr indent="0" marL="0">
              <a:buNone/>
            </a:pP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Zero Synthetic Savings: We never apply arbitrary percentages.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Audited Balancing: Every rupee balances to ERP PO records.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Overlap Deduplication: Multi-lever interactions deduplicated.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</a:rPr>
              <a:t>• Sovereign Protection: Customer data isolated via AES-256-GCM AEAD authenticated encryption.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 OF 30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 CAPABILITIES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Procurement Capability Architecture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1. DIAGNOSE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0292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100% forensic spend visibility &amp; price variance discovery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1847088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892808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2. STRATEGIZE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892808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Multi-lever opportunity prioritization &amp; market alignment</a:t>
            </a:r>
            <a:endParaRPr lang="en-US" sz="700" dirty="0"/>
          </a:p>
        </p:txBody>
      </p:sp>
      <p:sp>
        <p:nvSpPr>
          <p:cNvPr id="11" name="Shape 9"/>
          <p:cNvSpPr/>
          <p:nvPr/>
        </p:nvSpPr>
        <p:spPr>
          <a:xfrm>
            <a:off x="3236976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82696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3. SOURCE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282696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Dynamic e-auctions, strategic RFPs &amp; vendor rationalization</a:t>
            </a:r>
            <a:endParaRPr lang="en-US" sz="700" dirty="0"/>
          </a:p>
        </p:txBody>
      </p:sp>
      <p:sp>
        <p:nvSpPr>
          <p:cNvPr id="14" name="Shape 12"/>
          <p:cNvSpPr/>
          <p:nvPr/>
        </p:nvSpPr>
        <p:spPr>
          <a:xfrm>
            <a:off x="4626864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72584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4. EXECUTE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672584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Downstream implementation, contract lock-in &amp; compliance</a:t>
            </a:r>
            <a:endParaRPr lang="en-US" sz="700" dirty="0"/>
          </a:p>
        </p:txBody>
      </p:sp>
      <p:sp>
        <p:nvSpPr>
          <p:cNvPr id="17" name="Shape 15"/>
          <p:cNvSpPr/>
          <p:nvPr/>
        </p:nvSpPr>
        <p:spPr>
          <a:xfrm>
            <a:off x="6016752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062472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5. REALIZE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6062472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Audited invoice tracking &amp; realized P&amp;L benefit verification</a:t>
            </a:r>
            <a:endParaRPr lang="en-US" sz="700" dirty="0"/>
          </a:p>
        </p:txBody>
      </p:sp>
      <p:sp>
        <p:nvSpPr>
          <p:cNvPr id="20" name="Shape 18"/>
          <p:cNvSpPr/>
          <p:nvPr/>
        </p:nvSpPr>
        <p:spPr>
          <a:xfrm>
            <a:off x="7406640" y="914400"/>
            <a:ext cx="128016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960120"/>
            <a:ext cx="11887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6. MONITOR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7452360" y="1188720"/>
            <a:ext cx="1188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94A3B8"/>
                </a:solidFill>
              </a:rPr>
              <a:t>Continuous price creep prevention &amp; supplier governance</a:t>
            </a:r>
            <a:endParaRPr lang="en-US" sz="7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3474720"/>
                <a:gridCol w="201168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Competency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Methodological Focus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Forensic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Cleanse and normalize 100% of line-item PO history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transparency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Bespoke strategy per category liquidity &amp; velocity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Reduced baseline costs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Price Analytics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Percentile dispersion &amp; inter-plant rate tracking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Harmonized rates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Electronic Auctions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with reserve logic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Fast price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Pareto tail rationalization &amp; master distributors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Lowered AP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4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4 OF 30</a:t>
            </a:r>
            <a:endParaRPr lang="en-US" sz="7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CLIENT CONTEXT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Understanding UltraTech Cement Limited: Public Profile &amp; Scale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</a:t>
            </a:r>
            <a:endParaRPr lang="en-US" sz="8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645920"/>
                <a:gridCol w="4023360"/>
                <a:gridCol w="164592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Verified Public Fact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Official Source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Largest manufacturer of grey cement, Ready Mix Concrete (RMC) and white cement in India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UltraTech Annual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May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integrated manufacturing plants, 1 clinkerisation plant, 33 grinding units, and 8 bulk terminals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Q4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152.7 MTPA consolidated operating capacity with target of 200 MTPA by FY27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Investor Presentation Q2 FY25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October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Energy, fuel and logistics account for approximately 50–55% of total cement manufacturing expenditure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Audited Financial Results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April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Committed to EP100, RE100, and targeting 60%+ green power and alternate fuel share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Report FY24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June 2024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5 OF 30</a:t>
            </a:r>
            <a:endParaRPr lang="en-US" sz="7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Procurement Matters for UltraTech Cement Limited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</a:t>
            </a:r>
            <a:endParaRPr lang="en-US" sz="8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3474720"/>
                <a:gridCol w="292608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Industrial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Question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Market Leadership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Unmatched national volume scale requires corporate rate harmonization across regions.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Are identical technical inputs procured at varying prices across manufacturing clusters?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Operating Footprint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Decentralized local plant purchasing creates price creep and fragmented vendor supply.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many uncertified local vendors supply standardized mechanical and consumable items?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Production Capacity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Substantial upcoming capex and brownfield expansion demands strategic procurement pooling.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Can capital equipment and structural steel packages be bundled across expansion sites?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Cost Structure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Micro-percentage gains in thermal fuel, petcoke, and logistics translate to tens of crores.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How does contracted petcoke and coal pricing compare against port-landed spot indices?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Sustainability &amp; ESG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Sourcing of alternate fuels (AFR), biomass, and renewable PPAs requires specialized contracts.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What long-term contracting mechanisms protect against biomass seasonal supply volatility?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6 OF 30</a:t>
            </a:r>
            <a:endParaRPr lang="en-US" sz="7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 BASELINE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of Analysis &amp; Forensic Analytical Journey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 EVALUATED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31,671 Invoiced Records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83.3% Addressability Ratio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COMMERCIAL VENDORS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Suppliers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Across 18 Plant Clusters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CATEGORIZED SKUS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</a:t>
            </a:r>
            <a:endParaRPr lang="en-US" sz="7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2286000"/>
                <a:gridCol w="59436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Analytical Transformation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1: Customer Data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Raw SAP / ERP purchase history files ingested across 31,671 records.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2: Spend Diagnostic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100% forensic spend validation, UOM normalization &amp; currency harmonisation.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3: Strategic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Algorithmic identification of 12 strategic levers, price dispersion &amp; e-auction lots.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4: PCBI Benchmarking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Independent index price gap verification across landed fuels and bulk chemicals.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STAGE 5: Savings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Wave-1 package approval, target contract lock-in, and realized invoice verification.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7 OF 30</a:t>
            </a:r>
            <a:endParaRPr lang="en-US" sz="7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MATURITY ASSESSMENT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Procurement Diagnostic: 10 Dimensions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</a:t>
            </a:r>
            <a:endParaRPr lang="en-US" sz="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457200"/>
                <a:gridCol w="2286000"/>
                <a:gridCol w="2286000"/>
                <a:gridCol w="320040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#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Dimension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Observed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Procurement Implication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Spend Visibility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100.0% categorized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Complete line-item visibility across all plants.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Supplier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10% vendors = 81.4%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leverage on core suppliers.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Concentration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Top 5 categories = 68.2%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Focusing on 5 categories moves 70% savings.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Inter-Plant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average unit rate 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Immediate margin capture through rate parity.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Competitive Sourcing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42.6% spend under spot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Upside through structured reverse e-tenders.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Vendor Drag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vendors under 4.8%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Prime candidate for master panelling.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8 OF 30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 LANDSCAPE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Summary: Where the Value Lies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</a:t>
            </a:r>
            <a:endParaRPr lang="en-US" sz="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914400"/>
                <a:gridCol w="2560320"/>
                <a:gridCol w="1371600"/>
                <a:gridCol w="1371600"/>
                <a:gridCol w="914400"/>
                <a:gridCol w="1097280"/>
              </a:tblGrid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Lever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Sourcing Lever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E-Auction Competitive Events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₹58.80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Base Consolidation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Cross-Plant Volume Aggregation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₹840.00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₹42.00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Payment Terms &amp; Early Payment Discounts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Category Specialization Realignment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₹460.00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₹23.00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MEDIUM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Pipeline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LEV-07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Logistics Regional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₹750.00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Wave 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9 OF 30</a:t>
            </a:r>
            <a:endParaRPr lang="en-US" sz="7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FINANCIAL RECONCILIATION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Waterfall: From Gross Spend to Net Defensible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₹5,920.35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ADDRESSABLE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₹4,931.00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GROSS OPP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OVERLAPS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-₹62.80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LESS EXCLUSIONS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F44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-₹16.72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DEFENSIBLE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APPROVED WAVE 1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Reconciled</a:t>
            </a:r>
            <a:endParaRPr lang="en-US" sz="7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920240"/>
          <a:ext cx="8229600" cy="2560320"/>
        </p:xfrm>
        <a:graphic>
          <a:graphicData uri="http://schemas.openxmlformats.org/drawingml/2006/table">
            <a:tbl>
              <a:tblPr/>
              <a:tblGrid>
                <a:gridCol w="914400"/>
                <a:gridCol w="3200400"/>
                <a:gridCol w="2011680"/>
                <a:gridCol w="1188720"/>
                <a:gridCol w="914400"/>
              </a:tblGrid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Code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Waterfall Step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Raw Numeric INR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Display Value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Total Customer Invoiced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59,203,477,681.66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₹5,920.35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Addressable Spend Baseline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49,310,000,000.00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₹4,931.00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Gross Identified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3,232,700,000.00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₹323.27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Net Defensible Opportunity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2,437,500,000.00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₹243.75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WF-05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Realized &amp; Verified Invoice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214,000,000.00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₹21.40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VERIFIED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41" name="Text 38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42" name="Text 39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10 OF 30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SPEND ARCHITECTURE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— Spend Diagnostic: Taxonomy &amp; Concentration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</a:t>
            </a:r>
            <a:endParaRPr lang="en-US" sz="8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3108960"/>
                <a:gridCol w="1463040"/>
                <a:gridCol w="1097280"/>
                <a:gridCol w="256032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Cluster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Spend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Share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Profile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Raw Materials (Fly Ash, Slag)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₹1,842.10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31.1%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Strategic Importance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Energy &amp; Thermal Fuels (Petcoke, Coal)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₹1,624.50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Volatile Commodity Pricing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Outbound &amp; Bulk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₹910.20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15.4%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Regional Route Dispersion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Mechanical &amp; Electrical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₹554.20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SKU Granularity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(HDPE Laminated Bags)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8.1%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 Spec, High Scale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Administrative &amp; Plant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₹509.35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8.6%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Tail Spend Fragmentation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11 OF 30</a:t>
            </a:r>
            <a:endParaRPr lang="en-US" sz="7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CONCENTRATION RISK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Money Goes: Pareto Spend Visualizations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256032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CATEGORY CONCENTRATION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8 = 82.4%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 Level-2 Categories Total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29184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91840" y="914400"/>
            <a:ext cx="256032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338328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CONCENTRATION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338328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50 = 76.5%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1,482 Commercial Vendors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6126480" y="914400"/>
            <a:ext cx="2560320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126480" y="914400"/>
            <a:ext cx="256032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217920" y="100584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SKU GRANULARITY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6217920" y="118872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250 = 64.8%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1508760"/>
            <a:ext cx="237744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8,940 Items Evaluated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MANAGEMENT IMPLICATION ACROSS CONCENTRATION CLUSTERS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Executive focus must concentrate on Top 50 vendors while consolidating 912 tail suppliers.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Standardized consumable items (grinding media, refractories) exhibit 18.5% price spread.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Packaging and freight lanes feature 14+ qualified vendors ideal for dynamic reverse e-auctions.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Direct OEM partnerships bypass local trading intermediaries capturing 12% to 18% margin.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12 OF 30</a:t>
            </a:r>
            <a:endParaRPr lang="en-US" sz="7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FORENSIC FINDINGS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1 Findings: Forensic Spend Observations &amp; Root Causes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FIND-01: Inter-Plant Unit Price Dispersion on Standardized Consumables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₹24.60 Cr | CONF: HIGH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Decentralized plant purchase orders across 6 regional manufacturing clusters cause rate creep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340 standardized repeat items exhibit an average unit price spread of 18.5% across plants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Issue centralized corporate rate contracts with indexed regional logistics adders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33756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FIND-02: Tail Vendor Base Fragmentation &amp; Small Supplier Administrative Drag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333756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₹47.20 Cr | CONF: HIGH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333756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Active supplier master audit evaluating transaction density and cumulative spend share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912 vendors (61.5% of vendor base) account for only 4.8% of spend (₹236.00 Cr)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Execute vendor consolidation wave transitioning 912 tail vendors to 180 certified partners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603504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2648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FIND-03: Competitive Sourcing &amp; E-Auction Execution in Standardized Packaging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12648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₹36.00 Cr | CONF: 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612648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E-auction is evaluated as one execution mechanism within the broader sourcing strategy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Packaging materials (HDPE bags) feature 14+ qualified vendors and liquid supply market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Prepare dynamic bidding rulebook and pre-qualify 14 regional packaging fabricators</a:t>
            </a:r>
            <a:endParaRPr lang="en-US" sz="750" dirty="0"/>
          </a:p>
        </p:txBody>
      </p:sp>
      <p:sp>
        <p:nvSpPr>
          <p:cNvPr id="17" name="Shape 15"/>
          <p:cNvSpPr/>
          <p:nvPr/>
        </p:nvSpPr>
        <p:spPr>
          <a:xfrm>
            <a:off x="882396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1540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FIND-04: PCBI Benchmark Gap Independent Price Positioning in Energy &amp; Resins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891540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₹13.75 Cr | CONF: HIGH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891540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PCBI analysis identifies price-positioning opportunities independent of the sourcing mechanism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Imported petcoke and PP resin show 6.28% and 7.41% variance against PCBI benchmarks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Present audited PCBI benchmark gap dossiers during upcoming quarterly term contract renewals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12880" y="914400"/>
            <a:ext cx="2651760" cy="36576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1704320" y="100584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8FAFC"/>
                </a:solidFill>
              </a:rPr>
              <a:t>FIND-05: PO Consolidation &amp; Operational Process Effort Reduction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1704320" y="1508760"/>
            <a:ext cx="24688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VALUE: 20% Effort Reduction | CONF: HIGH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11704320" y="1783080"/>
            <a:ext cx="246888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BACKGROUND: PO consolidation represents operational productivity and manpower effort reduction, not spend savings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EVIDENCE: 4,120 micro-purchase orders generated annually across 18 manufacturing facilities</a:t>
            </a:r>
            <a:endParaRPr lang="en-US" sz="750" dirty="0"/>
          </a:p>
          <a:p>
            <a:pPr indent="0" marL="0">
              <a:buNone/>
            </a:pP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NEXT STEP: Configure ERP automatic batch replenishment for standardized plant consumables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13 OF 30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OPPORTUNITY MATRIX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2 — Strategic Sourcing Opportunity Map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1737360"/>
          </a:xfrm>
          <a:prstGeom prst="rect">
            <a:avLst/>
          </a:prstGeom>
          <a:solidFill>
            <a:srgbClr val="064E3B"/>
          </a:solidFill>
          <a:ln w="12700">
            <a:solidFill>
              <a:srgbClr val="059669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1: QUICK WINS (0-30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HDPE Packaging Bags E-Auction (Opp: ₹36.00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Early Payment Discounts (Opp: ₹35.60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Grinding Media Price Harmonization (Opp: ₹24.60 Cr)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709160" y="1005840"/>
            <a:ext cx="3977640" cy="1737360"/>
          </a:xfrm>
          <a:prstGeom prst="rect">
            <a:avLst/>
          </a:prstGeom>
          <a:solidFill>
            <a:srgbClr val="1E3A8A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892040" y="10972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QUADRANT 2: STRATEGIC LEVERS (60-90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Petcoke &amp; Coal PCBI Benchmark Indexing (Opp: ₹71.00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MRO Tail Vendor Base Consolidation (Opp: ₹47.20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F8FAFC"/>
                </a:solidFill>
              </a:rPr>
              <a:t>• Multi-Plant Technical Volume Aggregation (Opp: ₹42.00 Cr)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457200" y="2834640"/>
            <a:ext cx="3977640" cy="1737360"/>
          </a:xfrm>
          <a:prstGeom prst="rect">
            <a:avLst/>
          </a:prstGeom>
          <a:solidFill>
            <a:srgbClr val="1F2937"/>
          </a:solidFill>
          <a:ln w="12700">
            <a:solidFill>
              <a:srgbClr val="4B556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QUADRANT 3: OPERATIONAL POLICIES (30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Contract Price Leakage Elimination (Opp: ₹11.40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Plant Mechanical Fastener Consolidations (Opp: ₹7.70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D1D5DB"/>
                </a:solidFill>
              </a:rPr>
              <a:t>• Warehouse Consignment Stocking Agreements (Opp: ₹6.50 Cr)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709160" y="2834640"/>
            <a:ext cx="3977640" cy="1737360"/>
          </a:xfrm>
          <a:prstGeom prst="rect">
            <a:avLst/>
          </a:prstGeom>
          <a:solidFill>
            <a:srgbClr val="312E81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926080"/>
            <a:ext cx="3611880" cy="1554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QUADRANT 4: STRUCTURAL VALUE (90+ DAYS)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Refractory Castable Specification Harmonization (Opp: ₹16.50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Lubricant Grade Rationalization across Mills (Opp: ₹8.40 Cr)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7D2FE"/>
                </a:solidFill>
              </a:rPr>
              <a:t>• Conveyor Belt Technical Harmonization (Opp: ₹5.20 Cr)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14 OF 30</a:t>
            </a:r>
            <a:endParaRPr lang="en-US" sz="7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DISPERSION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Improvement: Percentile Dispersion Benchmarks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</a:t>
            </a:r>
            <a:endParaRPr lang="en-US" sz="8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377440"/>
                <a:gridCol w="548640"/>
                <a:gridCol w="731520"/>
                <a:gridCol w="731520"/>
                <a:gridCol w="731520"/>
                <a:gridCol w="731520"/>
                <a:gridCol w="109728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&amp; Item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P10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Median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Max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 (Cr)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Chrome Alloy Steel Balls (60-90mm)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92.0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96.0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108.0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128.0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(90%)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Low Cement High Alumina Castable (LC-70)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42000.0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44500.0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49500.0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61000.0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Double Laminated Bags 50kg Cement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14.8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16.1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15 OF 30</a:t>
            </a:r>
            <a:endParaRPr lang="en-US" sz="7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DYNAMIC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E-Auction Opportunities: Dynamic Competitive Events (One Sourcing Lever)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</a:t>
            </a:r>
            <a:endParaRPr lang="en-US" sz="8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286000"/>
                <a:gridCol w="1463040"/>
                <a:gridCol w="1645920"/>
                <a:gridCol w="1645920"/>
                <a:gridCol w="1188720"/>
              </a:tblGrid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Lot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Vendor Pool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Auction Format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Benefit Range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Packaging Materials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English Dynamic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Inbound Coal Logistics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22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Multi-Round Corridor Dutch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Mechanical Fasteners &amp; Hardware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Verified Bidders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Rank-Based Reverse 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₹7.70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E-AUCTION POSITIONING &amp; REQUISITE CONDITIONS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E-auction is one of several sourcing mechanisms evaluated and is not assumed to be applicable to the entire addressable spend.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Applicable strictly to categories with standardized technical specifications and 5+ qualified, liquid market participants.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Non-standardized, sole-source, or highly specialized categories are routed to bilateral negotiation and technical RFQ.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16 OF 30</a:t>
            </a:r>
            <a:endParaRPr lang="en-US" sz="7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RATIONALIZATION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Vendor Base Consolidation: Tail Spend Rationalization (5% Modelling Assumption)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</a:t>
            </a:r>
            <a:endParaRPr lang="en-US" sz="8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2103120"/>
        </p:xfrm>
        <a:graphic>
          <a:graphicData uri="http://schemas.openxmlformats.org/drawingml/2006/table">
            <a:tbl>
              <a:tblPr/>
              <a:tblGrid>
                <a:gridCol w="2011680"/>
                <a:gridCol w="2560320"/>
                <a:gridCol w="2560320"/>
                <a:gridCol w="1097280"/>
              </a:tblGrid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Category Scope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Current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 State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Industrial Plant Hardware &amp; Consumables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342 local hardware suppliers across 18 plants, avg spend ₹14L/supplier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4 regional master stocking distributors with on-site consignment stores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701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Electrical Consumables &amp; Cables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215 electrical supply shops billing fragmented ad-hoc invoices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 authorized direct OEM distributors (Schneider, ABB, Polycab)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200400"/>
            <a:ext cx="8229600" cy="128016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40080" y="3291840"/>
            <a:ext cx="7863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CONSOLIDATION MODELLING ASSUMPTION &amp; GOVERNANCE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Based on supplier fragmentation identified in the analysed spend, consolidation of eligible volumes may create additional purchasing leverage. An indicative 5% volume-discount assumption has been applied for opportunity modelling.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Actual realization will depend on supplier negotiations, market conditions, specifications and competitive intensity.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</a:rPr>
              <a:t>• Transition preserves emergency supply via localized vendor-managed consignment stocking.</a:t>
            </a: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17 OF 30</a:t>
            </a:r>
            <a:endParaRPr lang="en-US" sz="7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SUPPLIER REALIGNMENT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Multi-Category Supplier Analysis: Specialization Realignment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</a:t>
            </a:r>
            <a:endParaRPr lang="en-US" sz="8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194560"/>
                <a:gridCol w="2103120"/>
                <a:gridCol w="2103120"/>
                <a:gridCol w="914400"/>
                <a:gridCol w="91440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Supplier Name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Core Category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Supplied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Non-Core Spend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Opp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Apex Industrial Services Ltd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Civil Structural Fabrication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Electrical Switchgear Spares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₹18.40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₹2.40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Balaji Heavy Logistics Corp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Bulk Outbound Clinker Transport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Warehouse Consumable Packaging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Shree Ganesh Steels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Structural Steel Angles &amp; Channels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Safety PPE &amp; Personal Equipment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Western Mining &amp; Minerals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High Grade Limestone Mining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Plant Conveyor Belting &amp; Fasteners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₹1.10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18 OF 30</a:t>
            </a:r>
            <a:endParaRPr lang="en-US" sz="7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SOURCING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Aggregation: National Demand Pooling on Standard Specs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</a:t>
            </a:r>
            <a:endParaRPr lang="en-US" sz="8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645920"/>
                <a:gridCol w="1828800"/>
                <a:gridCol w="128016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 Specification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Fragmented Lots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Pooled Volume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Potential Benefit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Grinding Media Balls High Chrome 70mm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 Plant POs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14,200 MT Consolidated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Double Laminated HDPE Cement Sacks 50kg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 Pcs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24 Local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320 Million Pcs Total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Synthetic Heavy Industrial Gear Lubricants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14 Fragmented Orders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1,850 KL National Contract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₹5.60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19 OF 30</a:t>
            </a:r>
            <a:endParaRPr lang="en-US" sz="7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INTELLIGENCE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3 — PCBI Benchmark Coverage &amp; Market Alignment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96596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BENCHMARKABLE SPEND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₹2,450.00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Materials &amp; Fuels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256032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560320" y="914400"/>
            <a:ext cx="1965960" cy="45720"/>
          </a:xfrm>
          <a:prstGeom prst="rect">
            <a:avLst/>
          </a:prstGeom>
          <a:solidFill>
            <a:srgbClr val="38BDF8"/>
          </a:solidFill>
          <a:ln/>
        </p:spPr>
      </p:sp>
      <p:sp>
        <p:nvSpPr>
          <p:cNvPr id="12" name="Text 10"/>
          <p:cNvSpPr/>
          <p:nvPr/>
        </p:nvSpPr>
        <p:spPr>
          <a:xfrm>
            <a:off x="265176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COVERED PCBI SPEND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265176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₹1,180.00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65176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48.2% Effective Coverage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66344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663440" y="914400"/>
            <a:ext cx="1965960" cy="4572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475488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QUALITY RATING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475488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B98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GRADE A+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Independent Feeds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6766560" y="914400"/>
            <a:ext cx="196596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766560" y="914400"/>
            <a:ext cx="196596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2" name="Text 20"/>
          <p:cNvSpPr/>
          <p:nvPr/>
        </p:nvSpPr>
        <p:spPr>
          <a:xfrm>
            <a:off x="6858000" y="100584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IDENTIFIED MARKET GAP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858000" y="118872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₹12.60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858000" y="1508760"/>
            <a:ext cx="178308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vs Landed Indices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PCBI BENCHMARK GOVERNANCE &amp; PROVENANCE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Independent Market Sources: Official customs import filings and port manifests.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Technical Isolation: Zero contamination between client POs and PCBI tables.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Weekly Tracking: Captures seasonal freight cyclicality and port arbitrage.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Provenance Audit: Grade A+ rating with verified physical specifications.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20 OF 30</a:t>
            </a:r>
            <a:endParaRPr lang="en-US" sz="7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BENCHMARKS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PCBI Benchmark Findings: Purchase Rate vs Market Indices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</a:t>
            </a:r>
            <a:endParaRPr lang="en-US" sz="8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2743200"/>
                <a:gridCol w="731520"/>
                <a:gridCol w="1188720"/>
                <a:gridCol w="1188720"/>
                <a:gridCol w="914400"/>
                <a:gridCol w="1463040"/>
              </a:tblGrid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Commodity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UOM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Customer Rate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PCBI Ref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Variance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Rating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Petroleum Coke (Petcoke)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₹13,850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₹12,980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(Verified Port Cargo Shipments)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Polypropylene Homopolymer Resin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₹98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₹91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-7.4%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(Published Producer Spot Benchmarks)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Imported Thermal Coal 5000 kcal/kg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₹8,640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₹8,120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-6.0%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GRADE A+ (Customs Import Cleared Declarations)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21 OF 30</a:t>
            </a:r>
            <a:endParaRPr lang="en-US" sz="7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INDEX CONTRACTING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Benchmark-Guided Sourcing: Index Contract Formulas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PETCOKE INDEX-LINKED FORMULA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Platts CFR West Coast Port Index + Freight Adder + Fixed Margin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640080" y="1645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Protects against supplier margin padding during downward commodity cycles.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457200" y="2148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240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POLYPROPYLENE RESIN SPREAD CONTRACT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514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Domestic PP Polymer Spot Index + Verified Conversion Adder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40080" y="2788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Isolates plastic resin raw market movements from bag converting fabrication.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57200" y="3291840"/>
            <a:ext cx="822960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338328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</a:rPr>
              <a:t>THERMAL COAL HEAT-VALUE INDEXATION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640080" y="3657600"/>
            <a:ext cx="78638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0B981"/>
                </a:solidFill>
              </a:rPr>
              <a:t>Formula: Price = Port Landed Index * (Actual GCV / Guaranteed 5000 kcal/kg GCV)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640080" y="3931920"/>
            <a:ext cx="7863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Strategic Rationale: Eliminates moisture and ash penalty leakage by tying settlement to calorimeter tests.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22 OF 30</a:t>
            </a:r>
            <a:endParaRPr lang="en-US" sz="7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4 — Savings Execution Pipeline &amp; Downstream Handoff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572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IDENTIFIED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5486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₹323.27 Cr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16459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6459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VALIDATED</a:t>
            </a:r>
            <a:endParaRPr lang="en-US" sz="800" dirty="0"/>
          </a:p>
        </p:txBody>
      </p:sp>
      <p:sp>
        <p:nvSpPr>
          <p:cNvPr id="13" name="Text 11"/>
          <p:cNvSpPr/>
          <p:nvPr/>
        </p:nvSpPr>
        <p:spPr>
          <a:xfrm>
            <a:off x="17373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₹278.40 Cr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283464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83464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7" name="Text 15"/>
          <p:cNvSpPr/>
          <p:nvPr/>
        </p:nvSpPr>
        <p:spPr>
          <a:xfrm>
            <a:off x="292608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APPROVED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₹243.75 Cr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292608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402336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02336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11480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IN EXECUTION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11480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₹47.90 Cr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411480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25" name="Shape 23"/>
          <p:cNvSpPr/>
          <p:nvPr/>
        </p:nvSpPr>
        <p:spPr>
          <a:xfrm>
            <a:off x="521208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21208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7" name="Text 25"/>
          <p:cNvSpPr/>
          <p:nvPr/>
        </p:nvSpPr>
        <p:spPr>
          <a:xfrm>
            <a:off x="530352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NEGOTIATED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530352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₹31.20 Cr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30352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640080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2" name="Text 30"/>
          <p:cNvSpPr/>
          <p:nvPr/>
        </p:nvSpPr>
        <p:spPr>
          <a:xfrm>
            <a:off x="649224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REALIZED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649224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₹21.40 Cr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649224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7589520" y="914400"/>
            <a:ext cx="1097280" cy="7772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7589520" y="914400"/>
            <a:ext cx="109728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5"/>
          <p:cNvSpPr/>
          <p:nvPr/>
        </p:nvSpPr>
        <p:spPr>
          <a:xfrm>
            <a:off x="7680960" y="100584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7. SUSTAINED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7680960" y="1188720"/>
            <a:ext cx="914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₹18.60 Cr</a:t>
            </a:r>
            <a:endParaRPr lang="en-US" sz="1600" dirty="0"/>
          </a:p>
        </p:txBody>
      </p:sp>
      <p:sp>
        <p:nvSpPr>
          <p:cNvPr id="39" name="Text 37"/>
          <p:cNvSpPr/>
          <p:nvPr/>
        </p:nvSpPr>
        <p:spPr>
          <a:xfrm>
            <a:off x="7680960" y="1508760"/>
            <a:ext cx="9144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Governance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457200" y="1920240"/>
            <a:ext cx="8229600" cy="2560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" y="2103120"/>
            <a:ext cx="7680960" cy="2194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SAVINGS REALIZATION GOVERNANCE &amp; P&amp;L HARDENING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Baseline Locking: Pre-award contracted volume &amp; unit price frozen to prevent baseline shifting.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Token Handoff: Module 4 packages consume signed cryptographic tokens from Module 2.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Three-Way Invoice Match: Realized savings verified strictly against actual PO, GRN &amp; finance voucher.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EBITDA Reconciliation: Bi-weekly finance steering committee reconciling savings with plant cost sheets.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23 OF 30</a:t>
            </a:r>
            <a:endParaRPr lang="en-US" sz="7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INITIATIVE LEDGER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Savings Realization: Wave 1 Initiative Tracking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24</a:t>
            </a:r>
            <a:endParaRPr lang="en-US" sz="8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188720"/>
                <a:gridCol w="3383280"/>
                <a:gridCol w="914400"/>
                <a:gridCol w="914400"/>
                <a:gridCol w="914400"/>
                <a:gridCol w="914400"/>
              </a:tblGrid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Initiative ID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Strategic Initiative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Target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Realized 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Status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INIT-01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Direct Material Price Harmonization (Grinding Media &amp; Refractories)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₹14.20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₹8.52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60.0%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INIT-02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HDPE Cement Packaging Reverse E-Auction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₹11.80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INIT-03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Early Payment Discounting Program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₹8.90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₹4.45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50.0%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INIT-04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Secondary Inbound Coal Logistics Lane Rationalization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₹7.50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33.3%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 EXECUTION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INIT-05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Standardization of HDPE Bag GSM Specifications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₹5.50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₹0.00 Cr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0.0%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APPROVED — PRE-TENDER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24 OF 30</a:t>
            </a:r>
            <a:endParaRPr lang="en-US" sz="7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EXECUTION SCHEDULE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Priority Execution Roadmap: Phased Implementation Schedule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25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1: 0–30 DAYS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4864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Quick Wins &amp; Parity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54864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Enforce lowest unit prices on grinding media (₹14.20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early payment discounting (₹35.60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Eliminate off-contract invoice price drift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54864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₹49.80 Cr Locked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56032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5176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2: 31–60 DAYS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65176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Strategic E-Auctions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65176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Dynamic reverse auction for 320M HDPE bags (₹19.20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Corridor bidding for coal logistics (₹16.80 Cr)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OEM contracts for refractory castables (₹8.60 Cr)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265176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₹44.60 Cr Secured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5488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3: 61–90 DAYS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75488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Tail Consolidation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75488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Consolidate 912 tail suppliers into 180 master partners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Shift petcoke procurement to CFR port index formulas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Realize national lubricant volume rebates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475488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₹58.80 Cr Contracted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6766560" y="1005840"/>
            <a:ext cx="196596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58000" y="1097280"/>
            <a:ext cx="1783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8BDF8"/>
                </a:solidFill>
              </a:rPr>
              <a:t>PHASE 4: 90+ DAYS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6858000" y="1325880"/>
            <a:ext cx="1783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8FAFC"/>
                </a:solidFill>
              </a:rPr>
              <a:t>Structural Transformation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858000" y="1691640"/>
            <a:ext cx="1783080" cy="2103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Standardize specifications across grinding media &amp; castables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Long-term indexed contracts for alternate fuel biomass (AFR)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</a:rPr>
              <a:t>• Direct manufacturer purchasing agreements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6858000" y="4023360"/>
            <a:ext cx="1783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10B981"/>
                </a:solidFill>
              </a:rPr>
              <a:t>Target: ₹90.55 Cr Defensible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25 OF 30</a:t>
            </a:r>
            <a:endParaRPr lang="en-US" sz="7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STRATEGIC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Recommendations: From Opportunity to Savings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26</a:t>
            </a:r>
            <a:endParaRPr lang="en-US" sz="8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1828800"/>
                <a:gridCol w="2560320"/>
                <a:gridCol w="2194560"/>
                <a:gridCol w="1645920"/>
              </a:tblGrid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Diagnostic Finding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Recommended Intervention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Execution Model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BD5E1"/>
                          </a:solidFill>
                        </a:rPr>
                        <a:t>Expected Outcome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18.5% Price Spread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Centralize rate negotiation on high-volume items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Managed Rate Harmonization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₹24.60 Cr capture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Liquid Markets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Dynamic reverse auctions for packaging &amp; freight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Turnkey E-Auction Services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₹36.00 Cr discovery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912 Tail Vendors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Rationalize vendor base to 180 master partners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Vendor Panelling Agreements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₹47.20 Cr tier rebates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Fuel Volatility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Transition imported fuels to CFR port indexation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PCBI Index Contracting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CBD5E1"/>
                          </a:solidFill>
                        </a:rPr>
                        <a:t>₹12.60 Cr savings</a:t>
                      </a:r>
                      <a:endParaRPr lang="en-US" sz="85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26 OF 30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DOMAIN AUTHORITY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Procucev Sector &amp; Category Expertise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27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CEMENT &amp; BUILDING MATERIALS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64008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Integrated clinker lines, grinding media, refractory castables, HDPE sacks, logistics.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46320" y="1097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STEEL &amp; HEAVY METALS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846320" y="1371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Coking coal, iron ore, ferro alloys, graphite electrodes, mill rolling consumables.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45720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SPECIALTY CHEMICALS &amp; POLYMERS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64008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Petrochemical feedstocks, bulk solvents, process catalysts, intermediate reagents.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4663440" y="2148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846320" y="2240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PHARMACEUTICALS &amp; API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4846320" y="2514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Fine chemical precursors, primary packaging foils, glass vials, cleanroom MRO.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TEXTILES &amp; TECHNICAL FIBERS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4008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Purified terephthalic acid (PTA), monoethylene glycol (MEG), spinning oils, looms.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663440" y="3291840"/>
            <a:ext cx="4023360" cy="10515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3832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</a:rPr>
              <a:t>AUTOMOTIVE COMPONENTS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846320" y="3657600"/>
            <a:ext cx="365760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CBD5E1"/>
                </a:solidFill>
              </a:rPr>
              <a:t>High-tensile fasteners, forged assemblies, aluminum die-castings, automated robotics.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27 OF 30</a:t>
            </a:r>
            <a:endParaRPr lang="en-US" sz="7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 &amp; GOVERNANCE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Data Protection &amp; Cryptographic Security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28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3474720"/>
          </a:xfrm>
          <a:prstGeom prst="rect">
            <a:avLst/>
          </a:prstGeom>
          <a:solidFill>
            <a:srgbClr val="1E293B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VERIFIED ENTERPRISE DATA PRIVACY &amp; CONFIDENTIALITY CONTROLS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AES-256-GCM AEAD Encryption: All customer invoices and opportunity ledgers encrypted at rest.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Zero AI Model Retraining: Customer procurement transactions are NEVER used to train external LLMs.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Strict Tenant Isolation: Rigid database boundary; Customer A data can never be accessed by Customer B.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PCBI Boundary: Customer purchase transactions never contaminate public market indices.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Log Sanitization: Centralized logger masks sensitive banking, PAN, GST and financial amounts.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Cryptographic Shredding: Deletion requests trigger certified database record purging and key destruction.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28 OF 30</a:t>
            </a:r>
            <a:endParaRPr lang="en-US" sz="7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ENGAGEMENT ROADMAP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Analysis to Action: Conversion Framework &amp; Next Steps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29</a:t>
            </a:r>
            <a:endParaRPr lang="en-US" sz="8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8229600" cy="9144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1520" y="1188720"/>
            <a:ext cx="7680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8FAFC"/>
                </a:solidFill>
              </a:rPr>
              <a:t>"The diagnostic identifies the opportunity. The next step is disciplined execution to convert opportunity into realized and sustained bottom-line savings."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103120"/>
            <a:ext cx="8229600" cy="23774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286000"/>
            <a:ext cx="76809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ENGAGEMENT GOVERNANCE &amp; RECOMMENDED NEXT STEPS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1: Schedule Joint Sourcing Steering Committee with Corporate Procurement Head &amp; CFO.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2: Approve Wave 1 Dynamic Reverse E-Auction Lots &amp; issue vendor qualification notices.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Week 3: Enforce historical lowest rate contracts across standardized mechanical consumables.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• Contacts: executive-brief@procucev.com | Website: https://procucev.com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</a:rPr>
              <a:t>CONFIDENTIAL — All analytical IP, algorithms and diagnostics are proprietary to Procucev.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29 OF 30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201168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 APPENDIX</a:t>
            </a:r>
            <a:endParaRPr lang="en-US" sz="800" dirty="0"/>
          </a:p>
        </p:txBody>
      </p:sp>
      <p:sp>
        <p:nvSpPr>
          <p:cNvPr id="3" name="Text 1"/>
          <p:cNvSpPr/>
          <p:nvPr/>
        </p:nvSpPr>
        <p:spPr>
          <a:xfrm>
            <a:off x="457200" y="502920"/>
            <a:ext cx="7772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8FA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Evidence Appendix: Transaction Traceability &amp; Reconciliation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046720" y="228600"/>
            <a:ext cx="731520" cy="228600"/>
          </a:xfrm>
          <a:prstGeom prst="rect">
            <a:avLst/>
          </a:prstGeom>
          <a:solidFill>
            <a:srgbClr val="1E293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30</a:t>
            </a:r>
            <a:endParaRPr lang="en-US" sz="8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05840"/>
          <a:ext cx="8229600" cy="3474720"/>
        </p:xfrm>
        <a:graphic>
          <a:graphicData uri="http://schemas.openxmlformats.org/drawingml/2006/table">
            <a:tbl>
              <a:tblPr/>
              <a:tblGrid>
                <a:gridCol w="548640"/>
                <a:gridCol w="2286000"/>
                <a:gridCol w="1188720"/>
                <a:gridCol w="1097280"/>
                <a:gridCol w="914400"/>
                <a:gridCol w="2194560"/>
              </a:tblGrid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Ref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Lever Name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Eligible Spend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Potential Opp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Confidence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CBD5E1"/>
                          </a:solidFill>
                        </a:rPr>
                        <a:t>Formula &amp; Lineage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A-01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Direct Price Improvement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₹71.00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(88%)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SUM(qty * (unitPrice - P10)) | TX-00100..15200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A-02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Packaging Sacks Reverse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₹19.20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(85%)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P10 Reserve Delta on 320M Bags | TX-02000..04650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A-03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Tail Vendor Base Consolidation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₹1,180.00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₹47.20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10% Tier Rebate on 912 Vendors | TX-04000..10420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A-04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Inbound Freight Lane Auction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₹280.00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₹16.80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Corridor Rate Dispersion | TX-00200..02650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A-05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Dynamic Early Payment Program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₹890.00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₹35.60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(92%)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2% 10-Net-30 Cash Discount | TX-01000..05400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  <a:tr h="496389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A-06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PCBI Fuel Index Alignment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₹420.00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₹12.60 Cr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HIGH (84%)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CBD5E1"/>
                          </a:solidFill>
                        </a:rPr>
                        <a:t>Variance to Port Landed Index | TX-00150..03270</a:t>
                      </a:r>
                      <a:endParaRPr lang="en-US" sz="800" dirty="0"/>
                    </a:p>
                  </a:txBody>
                  <a:tcPr marL="91440" marR="91440" marT="45720" marB="45720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182234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800600"/>
            <a:ext cx="685800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 — PREPARED EXCLUSIVELY FOR ULTRATECH CEMENT LIMITED</a:t>
            </a:r>
            <a:endParaRPr lang="en-US" sz="750" dirty="0"/>
          </a:p>
        </p:txBody>
      </p:sp>
      <p:sp>
        <p:nvSpPr>
          <p:cNvPr id="7" name="Text 4"/>
          <p:cNvSpPr/>
          <p:nvPr/>
        </p:nvSpPr>
        <p:spPr>
          <a:xfrm>
            <a:off x="7498080" y="4800600"/>
            <a:ext cx="128016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PAGE 30 OF 30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Procucev / aiCEV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Procurement Value &amp; Savings Diagnostic - UltraTech Cement Limited</dc:title>
  <dc:subject>PptxGenJS Presentation</dc:subject>
  <dc:creator>Procucev Advisory Services</dc:creator>
  <cp:lastModifiedBy>Procucev Advisory Services</cp:lastModifiedBy>
  <cp:revision>1</cp:revision>
  <dcterms:created xsi:type="dcterms:W3CDTF">2026-10-02T03:45:41Z</dcterms:created>
  <dcterms:modified xsi:type="dcterms:W3CDTF">2026-10-02T03:45:41Z</dcterms:modified>
</cp:coreProperties>
</file>