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Brief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Cement Limited | CFO / CEO Discussion Edition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80160"/>
            <a:ext cx="73152" cy="29260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VALUE THESIS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78.72 Cr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8580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P&amp;L cost reduction across rate harmonization, volume pooling, and strategic tenders. Reconciled with 0 variance against 31,671 invoice transactions.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280160"/>
            <a:ext cx="54864" cy="896112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3716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46320" y="1572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93.60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846320" y="193852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+ Strategic Market Value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63440" y="228600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2286000"/>
            <a:ext cx="54864" cy="89611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3774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14.88 Cr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846320" y="29443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Contracting Levers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329184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3291840"/>
            <a:ext cx="54864" cy="896112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33832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46320" y="3584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5,920.35 Cr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846320" y="39502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Records | 24 Months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OF 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Procurement Data Tells 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36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36192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118872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CONCENTRATION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66928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66928" y="2103120"/>
            <a:ext cx="1316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concentrated in top 10% of suppliers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30552" y="1051560"/>
            <a:ext cx="1536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30552" y="1051560"/>
            <a:ext cx="1536192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2" name="Text 9"/>
          <p:cNvSpPr/>
          <p:nvPr/>
        </p:nvSpPr>
        <p:spPr>
          <a:xfrm>
            <a:off x="2240280" y="118872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240280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240280" y="2103120"/>
            <a:ext cx="1316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variance on repeat SKUs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03904" y="1051560"/>
            <a:ext cx="1536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03904" y="1051560"/>
            <a:ext cx="1536192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/>
          <p:nvPr/>
        </p:nvSpPr>
        <p:spPr>
          <a:xfrm>
            <a:off x="3913632" y="118872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CONTRACTING GAP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913632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913632" y="2103120"/>
            <a:ext cx="1316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/ non-contracted purchases across plants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77256" y="1051560"/>
            <a:ext cx="1536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77256" y="1051560"/>
            <a:ext cx="1536192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19"/>
          <p:cNvSpPr/>
          <p:nvPr/>
        </p:nvSpPr>
        <p:spPr>
          <a:xfrm>
            <a:off x="5586984" y="118872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BASE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586984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586984" y="2103120"/>
            <a:ext cx="1316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suppliers accounting for 4.8% spend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150608" y="1051560"/>
            <a:ext cx="1536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50608" y="1051560"/>
            <a:ext cx="1536192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7" name="Text 24"/>
          <p:cNvSpPr/>
          <p:nvPr/>
        </p:nvSpPr>
        <p:spPr>
          <a:xfrm>
            <a:off x="7260336" y="118872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VALUE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260336" y="160020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93.60 Cr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260336" y="2103120"/>
            <a:ext cx="1316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 post-overlap &amp; policy deduction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337560"/>
            <a:ext cx="54864" cy="7315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" y="344728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in price harmonization, supplier consolidation, strategic sourcing and benchmark-led market alignment.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across 26 manufacturing plants and 256 material groups over 24 months of invoiced ledger history.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4206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evidence: Boardroom &amp; Evidence Edition - Slides 7-10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OPPORTUNITY IS CONCENTRATED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60120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468880" y="996696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468880" y="996696"/>
            <a:ext cx="329184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96012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43584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68880" y="1280160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1280160"/>
            <a:ext cx="242316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1243584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68880" y="1563624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8880" y="1563624"/>
            <a:ext cx="201168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1527048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10512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468880" y="1847088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68880" y="1847088"/>
            <a:ext cx="169164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1810512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093976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468880" y="2130552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68880" y="2130552"/>
            <a:ext cx="109728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5852160" y="2093976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377440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468880" y="2414016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68880" y="2414016"/>
            <a:ext cx="91440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852160" y="237744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660904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468880" y="2697480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68880" y="2697480"/>
            <a:ext cx="73152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5852160" y="2660904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294436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468880" y="2980944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468880" y="2980944"/>
            <a:ext cx="484632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5852160" y="2944368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227832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468880" y="3264408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468880" y="3264408"/>
            <a:ext cx="36576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5852160" y="3227832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511296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468880" y="3547872"/>
            <a:ext cx="3291840" cy="137160"/>
          </a:xfrm>
          <a:prstGeom prst="rect">
            <a:avLst/>
          </a:prstGeom>
          <a:solidFill>
            <a:srgbClr val="F1F5F9"/>
          </a:solidFill>
          <a:ln w="635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468880" y="3547872"/>
            <a:ext cx="274320" cy="13716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5852160" y="3511296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949440" y="960120"/>
            <a:ext cx="1965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059168" y="1097280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IDENTIFIED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059168" y="155448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173.12 Cr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7059168" y="210312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opportunities are assessed independently and deduplicated before establishing the net defensible pipeline.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opportunities are deduplicated before the defensible pipeline is established. * Indicative 5% vendor consolidation assumption.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sourcing evidence: Boardroom &amp; Evidence Edition - Slides 9, 14-19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1" name="Text 4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Gross Opportunity to Defensible Value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874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173.12 Cr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10 opportunity levers identified pre-deductions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377440" y="1645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78608" y="1051560"/>
            <a:ext cx="1874520" cy="1463040"/>
          </a:xfrm>
          <a:prstGeom prst="rect">
            <a:avLst/>
          </a:prstGeom>
          <a:solidFill>
            <a:srgbClr val="FFFBEB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78608" y="1051560"/>
            <a:ext cx="187452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70048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670048" y="1554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Rs. 62.80 Cr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670048" y="1920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cross-lever double-counting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498848" y="1645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700016" y="1051560"/>
            <a:ext cx="1874520" cy="1463040"/>
          </a:xfrm>
          <a:prstGeom prst="rect">
            <a:avLst/>
          </a:prstGeom>
          <a:solidFill>
            <a:srgbClr val="FFFBEB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0016" y="1051560"/>
            <a:ext cx="187452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791456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91456" y="1554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Rs. 16.72 Cr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91456" y="1920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Single-source OEM &amp; statutory boundaries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620256" y="1645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821424" y="1051560"/>
            <a:ext cx="1874520" cy="1463040"/>
          </a:xfrm>
          <a:prstGeom prst="rect">
            <a:avLst/>
          </a:prstGeom>
          <a:solidFill>
            <a:srgbClr val="ECFDF5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21424" y="1051560"/>
            <a:ext cx="187452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912864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912864" y="1554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93.60 Cr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12864" y="1920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value pipeline ready for capture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2697480"/>
            <a:ext cx="397764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27889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94360" y="299008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78.72 Cr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94360" y="3355848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Harmonization, volume pooling, and competitive tenders delivering direct cost reductions.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709160" y="2697480"/>
            <a:ext cx="39776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27889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846320" y="299008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14.88 Cr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846320" y="3355848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reset timing and market index formula contracting tracked distinctly.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reconciliation variance: Rs. 0.00 Cr  |  Full financial reconciliation: Boardroom &amp; Evidence Edition - Slide 10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AUDIT TRAIL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Management Can Trust the Number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36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36192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Records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PO &amp; invoice lines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30552" y="1051560"/>
            <a:ext cx="1536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30552" y="1051560"/>
            <a:ext cx="1536192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221992" y="114300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221992" y="1508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221992" y="187452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master profiled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803904" y="1051560"/>
            <a:ext cx="1536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03904" y="1051560"/>
            <a:ext cx="1536192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7" name="Text 14"/>
          <p:cNvSpPr/>
          <p:nvPr/>
        </p:nvSpPr>
        <p:spPr>
          <a:xfrm>
            <a:off x="3895344" y="114300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895344" y="1508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Groups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895344" y="187452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taxonomy categories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77256" y="1051560"/>
            <a:ext cx="1536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77256" y="1051560"/>
            <a:ext cx="1536192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2" name="Text 19"/>
          <p:cNvSpPr/>
          <p:nvPr/>
        </p:nvSpPr>
        <p:spPr>
          <a:xfrm>
            <a:off x="5568696" y="114300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568696" y="1508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568696" y="187452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Pan-India sites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50608" y="1051560"/>
            <a:ext cx="1536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50608" y="1051560"/>
            <a:ext cx="1536192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242048" y="114300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242048" y="150876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Period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242048" y="187452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2024 - March 2026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2560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VALUE PROVENANCE ARCHITECTURE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Transaction-level analysis  -&gt;  Category intelligence  -&gt;  Sourcing opportunities  -&gt;  Overlap controls  -&gt;  Defensible pipeline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0080" y="3383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&amp; INTEGRITY ASSURANCE: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procurement data is handled under configured tenant isolation, access controls, confidentiality and data-governance controls.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57200" y="4069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methodology and audit trail: Boardroom &amp; Evidence Edition - Slides 7 &amp; 30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CAPTURE MECHANISMS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Value Will Be Captured: Execution Pillars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060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RATE HARMONIZATION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Cross-plant price alignment &amp; benchmark-led negotiations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82880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Inter-plant variance elimination on identical standard SKUs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Ex-works benchmark rate cards indexed to regional delivery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ERP real-time price verification stopping contract rate creep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64408" y="105156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4408" y="1051560"/>
            <a:ext cx="2606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3401568" y="1188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VOLUME AGGREGATION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01568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fragmented demand &amp; increase supplier leverage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01568" y="182880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Aggregate multi-plant requirements into national master contracts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Demand consolidation across 26 plants for tier-1 volume discounts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Master distributor agreements for regional MRO consumables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71616" y="105156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71616" y="1051560"/>
            <a:ext cx="26060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208776" y="1188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STRATEGIC SOURCING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08776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tenders, rationalization &amp; benchmark alignment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208776" y="182880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Multi-round competitive bidding and dynamic e-auctions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Strategic vendor base consolidation and panelling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Formula-based commodity indexation (PCBI market linkage)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4107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EXECUTION MECHANISMS: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40080" y="361188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36484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40280" y="361188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40280" y="36484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840480" y="361188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40480" y="36484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40680" y="361188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0680" y="36484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040880" y="361188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40880" y="364845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Strategy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VALUE CAPTURE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— Immediate Value Capture: Priority Initiatives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ECFDF5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73152" cy="6858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247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WAVE 1 OPPORTUNITY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307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47.90 Cr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931920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pre-qualified commercial initiatives with technical specification signoff, ready for immediate 90-day execution.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874520"/>
            <a:ext cx="15361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874520"/>
            <a:ext cx="1536192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9659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Bags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14.50 Cr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25603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48640" y="274320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&amp; Index Linkage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8640" y="3108960"/>
            <a:ext cx="1353312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11810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130552" y="1874520"/>
            <a:ext cx="15361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30552" y="1874520"/>
            <a:ext cx="1536192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0" name="Text 17"/>
          <p:cNvSpPr/>
          <p:nvPr/>
        </p:nvSpPr>
        <p:spPr>
          <a:xfrm>
            <a:off x="2221992" y="19659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221992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11.20 Cr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221992" y="25603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CONSUMABLES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221992" y="274320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Variance Arbitrage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221992" y="3108960"/>
            <a:ext cx="1353312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2"/>
          <p:cNvSpPr/>
          <p:nvPr/>
        </p:nvSpPr>
        <p:spPr>
          <a:xfrm>
            <a:off x="2221992" y="311810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15-45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803904" y="1874520"/>
            <a:ext cx="15361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03904" y="1874520"/>
            <a:ext cx="1536192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8" name="Text 25"/>
          <p:cNvSpPr/>
          <p:nvPr/>
        </p:nvSpPr>
        <p:spPr>
          <a:xfrm>
            <a:off x="3895344" y="19659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895344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9.80 Cr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895344" y="25603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895344" y="274320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Index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895344" y="3108960"/>
            <a:ext cx="1353312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0"/>
          <p:cNvSpPr/>
          <p:nvPr/>
        </p:nvSpPr>
        <p:spPr>
          <a:xfrm>
            <a:off x="3895344" y="311810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30-60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477256" y="1874520"/>
            <a:ext cx="15361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77256" y="1874520"/>
            <a:ext cx="1536192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6" name="Text 33"/>
          <p:cNvSpPr/>
          <p:nvPr/>
        </p:nvSpPr>
        <p:spPr>
          <a:xfrm>
            <a:off x="5568696" y="19659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568696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6.40 Cr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568696" y="25603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568696" y="274320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Pooling &amp; OEM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568696" y="3108960"/>
            <a:ext cx="1353312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8"/>
          <p:cNvSpPr/>
          <p:nvPr/>
        </p:nvSpPr>
        <p:spPr>
          <a:xfrm>
            <a:off x="5568696" y="311810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45-75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50608" y="1874520"/>
            <a:ext cx="153619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50608" y="1874520"/>
            <a:ext cx="1536192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4" name="Text 41"/>
          <p:cNvSpPr/>
          <p:nvPr/>
        </p:nvSpPr>
        <p:spPr>
          <a:xfrm>
            <a:off x="7242048" y="196596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Refractory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242048" y="2240280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6.00 Cr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242048" y="25603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242048" y="274320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Panelling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242048" y="3108960"/>
            <a:ext cx="1353312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6"/>
          <p:cNvSpPr/>
          <p:nvPr/>
        </p:nvSpPr>
        <p:spPr>
          <a:xfrm>
            <a:off x="7242048" y="311810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60-90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Wave 1 initiatives provide the first execution pathway from identified opportunity to realized savings.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initiative ledger: Boardroom &amp; Evidence Edition - Slide 24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Opportunity to Execution in 90 Days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060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6128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Bags E-Auction &amp; Rate Harmonization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4360" y="1965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Mobilize joint procurement steering committee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Baseline validation &amp; supplier pre-qualification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Launch Packaging Bags master e-auction (Rs. 14.50 Cr)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Establish corporate rate cards for immediate quick wins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64408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1051560"/>
            <a:ext cx="2606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3401568" y="116128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01568" y="1399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Engagement &amp; Tenders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01568" y="1645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&amp; Fuel Benchmark Alignment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401568" y="1965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dynamic tenders for grinding media (Rs. 11.20 Cr)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Align imported coal &amp; petcoke contracts to PCBI index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Launch secondary freight multi-plant corridor bidding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Commercial negotiations on top 100 consumable SKUs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71616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71616" y="1051560"/>
            <a:ext cx="26060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208776" y="116128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08776" y="1399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 &amp; Savings Realization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08776" y="16459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Lubricants, Refractory &amp; Contract Signoff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208776" y="1965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Award consolidated lubricants &amp; refractory master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Enforce contract compliance rules in ERP purchase orders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Reconcile realized P&amp;L EBITDA impact with finance teams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continuous tracking dashboard for ongoing leakage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3246120"/>
            <a:ext cx="8229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246120"/>
            <a:ext cx="54864" cy="7772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3375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TARGET: Rs. 47.90 Cr Validated Wave 1 Targeted for 90-Day Cash Realization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process savings from 824 POs remain unmonetized until customer time-motion / manpower baseline validation.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/ cost avoidance: Rs. 420 Cr spend de-risked across 4 dual-source programs is tracked separately and not monetized.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57200" y="4114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roadmap: Boardroom &amp; Evidence Edition - Slides 24-25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ADVISORY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 + aiCEV: Enterprise Partner Value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385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3852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6128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EXPERTISE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 &amp; Category Depth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83080"/>
            <a:ext cx="17556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Decades of direct category leadership in heavy manufacturing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playbooks across fuel, power, logistics &amp; MRO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Senior practitioner negotiation support across pan-India suppliers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551176" y="1051560"/>
            <a:ext cx="19385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1176" y="1051560"/>
            <a:ext cx="1938528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2642616" y="116128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SPEND INTELLIGENCE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642616" y="14630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Transaction-Level Precision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642616" y="1783080"/>
            <a:ext cx="17556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Granular transaction harmonization across 31,671 invoice lines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Multi-plant ex-works price dispersion detection on identical SKUs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Systematic exclusion and overlap deduplication governance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45152" y="1051560"/>
            <a:ext cx="19385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5152" y="1051560"/>
            <a:ext cx="193852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36592" y="116128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INTELLIGENCE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36592" y="14630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Market Anchoring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36592" y="1783080"/>
            <a:ext cx="17556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Proprietary PCBI indices for cement-specific commodities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Independent index-linked pricing formulas (coal, petcoke, polymer)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Market timing intelligence for contract renegotiation windows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739128" y="1051560"/>
            <a:ext cx="19385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39128" y="1051560"/>
            <a:ext cx="193852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2" name="Text 19"/>
          <p:cNvSpPr/>
          <p:nvPr/>
        </p:nvSpPr>
        <p:spPr>
          <a:xfrm>
            <a:off x="6830568" y="116128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SAVINGS REALIZATION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830568" y="14630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P&amp;L Impact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30568" y="1783080"/>
            <a:ext cx="17556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Dynamic e-auction platform and RFP commercial orchestration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Joint steering model driving plant-level operational adoption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Continuous savings ledger tracking realized cash flow impact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337560"/>
            <a:ext cx="54864" cy="68580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344728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to procurement decision to measurable execution.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procurement data is handled under configured tenant isolation, access controls, confidentiality and data-governance controls.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NEXT STEPS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060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612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ALIGN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" y="1435608"/>
            <a:ext cx="233172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5389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Priority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4360" y="1709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priority Wave 1 categories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priority categories and align key stakeholders on immediate commercial launch across packaging bags, grinding media, and fuel.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64408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4408" y="1051560"/>
            <a:ext cx="26060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3401568" y="11612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MOBILIZE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01568" y="1435608"/>
            <a:ext cx="233172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3447288" y="145389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Governance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401568" y="1709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joint procurement working group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01568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joint central procurement and plant execution steering team to harmonize cross-plant specifications and vendor panels.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71616" y="10515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71616" y="1051560"/>
            <a:ext cx="2606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6208776" y="11612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EXECUTE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08776" y="1435608"/>
            <a:ext cx="233172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0"/>
          <p:cNvSpPr/>
          <p:nvPr/>
        </p:nvSpPr>
        <p:spPr>
          <a:xfrm>
            <a:off x="6254496" y="145389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08776" y="1709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approved competitive sourcing initiatives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08776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approved dynamic price discovery events and corporate rate card standardizations across vetted supplier panels.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ECFDF5"/>
          </a:solidFill>
          <a:ln w="19050">
            <a:solidFill>
              <a:srgbClr val="17A67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291840"/>
            <a:ext cx="73152" cy="7772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33649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78.72 Cr Direct Savings Opportunity  |  Rs. 93.60 Cr Net Defensible Pipeline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36027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diagnostic to execution.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0080" y="38587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| CFO / CEO Discussion Edition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Opportunity Brief - UltraTech Cement Limited</dc:title>
  <dc:subject>PptxGenJS Presentation</dc:subject>
  <dc:creator>Procucev Advisory Services</dc:creator>
  <cp:lastModifiedBy>Procucev Advisory Services</cp:lastModifiedBy>
  <cp:revision>1</cp:revision>
  <dcterms:created xsi:type="dcterms:W3CDTF">2026-10-03T16:08:50Z</dcterms:created>
  <dcterms:modified xsi:type="dcterms:W3CDTF">2026-10-03T16:08:50Z</dcterms:modified>
</cp:coreProperties>
</file>